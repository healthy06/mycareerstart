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77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922169" y="0"/>
            <a:ext cx="21431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547431"/>
            <a:ext cx="5086350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КАРЬЕРНЫЙ
ТРЕК AI</a:t>
            </a:r>
            <a:endParaRPr lang="en-US" sz="4353" dirty="0"/>
          </a:p>
        </p:txBody>
      </p:sp>
      <p:sp>
        <p:nvSpPr>
          <p:cNvPr id="6" name="Shape 3"/>
          <p:cNvSpPr/>
          <p:nvPr/>
        </p:nvSpPr>
        <p:spPr>
          <a:xfrm>
            <a:off x="428625" y="3081886"/>
            <a:ext cx="5086350" cy="46255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8625" y="3081886"/>
            <a:ext cx="5086350" cy="46255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Твой умный старт в профессию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428625" y="3687319"/>
            <a:ext cx="5086350" cy="31075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Хакатон: КАРЬЕРНЫЙ ТРЕК AI • 2026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 rot="900000">
            <a:off x="6472238" y="1500188"/>
            <a:ext cx="2143125" cy="2143125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073" y="2035969"/>
            <a:ext cx="1339453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10001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35769" y="577500"/>
            <a:ext cx="827246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ПРОБЛЕМА: ПОТЕРЯННОЕ ПОКОЛЕНИЕ</a:t>
            </a:r>
            <a:endParaRPr lang="en-US" sz="243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09" y="1262658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3609" y="1682353"/>
            <a:ext cx="39719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ОТСУТСТВИЕ ОРИЕНТАЦИИ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303609" y="2009180"/>
            <a:ext cx="39719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70% молодых людей не знают, какую профессию выбрать после учебы. Они тратят годы на обучение специальностям, которые им не интересны.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572000" y="1007269"/>
            <a:ext cx="4564856" cy="1807369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251942"/>
            <a:ext cx="28575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7750" y="1671638"/>
            <a:ext cx="39933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СЛОЖНОСТИ ТРУДОУСТРОЙСТВА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4857750" y="1998464"/>
            <a:ext cx="39933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Трудно найти подработку, которая реально развивает нужные навыки. Рынок переполнен вакансиями, не подходящими для студентов.</a:t>
            </a:r>
            <a:endParaRPr lang="en-US" sz="885" dirty="0"/>
          </a:p>
        </p:txBody>
      </p:sp>
      <p:sp>
        <p:nvSpPr>
          <p:cNvPr id="12" name="Shape 7"/>
          <p:cNvSpPr/>
          <p:nvPr/>
        </p:nvSpPr>
        <p:spPr>
          <a:xfrm>
            <a:off x="7144" y="2814638"/>
            <a:ext cx="4564856" cy="1807369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894" y="3059311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92894" y="3479006"/>
            <a:ext cx="39933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НЕЯСНОСТЬ ПУТИ</a:t>
            </a:r>
            <a:endParaRPr lang="en-US" sz="1397" dirty="0"/>
          </a:p>
        </p:txBody>
      </p:sp>
      <p:sp>
        <p:nvSpPr>
          <p:cNvPr id="15" name="Text 9"/>
          <p:cNvSpPr/>
          <p:nvPr/>
        </p:nvSpPr>
        <p:spPr>
          <a:xfrm>
            <a:off x="292894" y="3805833"/>
            <a:ext cx="39933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Нет понимания, какие шаги предпринять сегодня для достижения цели через 5 лет. Карьерный путь кажется туманным и пугающим.</a:t>
            </a:r>
            <a:endParaRPr lang="en-US" sz="885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8466" y="3070027"/>
            <a:ext cx="285750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68466" y="3489722"/>
            <a:ext cx="39719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ПОТЕРЯ ПОТЕНЦИАЛА</a:t>
            </a:r>
            <a:endParaRPr lang="en-US" sz="1397" dirty="0"/>
          </a:p>
        </p:txBody>
      </p:sp>
      <p:sp>
        <p:nvSpPr>
          <p:cNvPr id="18" name="Text 11"/>
          <p:cNvSpPr/>
          <p:nvPr/>
        </p:nvSpPr>
        <p:spPr>
          <a:xfrm>
            <a:off x="4868466" y="3816548"/>
            <a:ext cx="39719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Результат: Потеря потенциала и времени на старте профессионального пути. Молодежь теряет мотивацию еще до начала реальной карьеры.</a:t>
            </a:r>
            <a:endParaRPr lang="en-US" sz="885" dirty="0"/>
          </a:p>
        </p:txBody>
      </p:sp>
      <p:sp>
        <p:nvSpPr>
          <p:cNvPr id="19" name="Shape 12"/>
          <p:cNvSpPr/>
          <p:nvPr/>
        </p:nvSpPr>
        <p:spPr>
          <a:xfrm>
            <a:off x="7144" y="4622006"/>
            <a:ext cx="9129713" cy="51435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7144" y="4622006"/>
            <a:ext cx="9129713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69" y="4800600"/>
            <a:ext cx="157163" cy="1571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0088" y="4778276"/>
            <a:ext cx="472411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превращаем неопределенность в четкий план развития.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" y="78581"/>
            <a:ext cx="3640438" cy="510063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697588" y="78581"/>
            <a:ext cx="21431" cy="51006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146" y="1880592"/>
            <a:ext cx="1107281" cy="1143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41930" y="3109317"/>
            <a:ext cx="2113741" cy="26789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41930" y="3109317"/>
            <a:ext cx="2113741" cy="267891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Ваш карьерный навигатор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4004770" y="827363"/>
            <a:ext cx="4889171" cy="84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РЕШЕНИЕ: AI-НАВИГАТОР В КАРМАНЕ</a:t>
            </a:r>
            <a:endParaRPr lang="en-US" sz="275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770" y="1854612"/>
            <a:ext cx="150019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47670" y="1804606"/>
            <a:ext cx="200881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ДОСТУПНОСТЬ 24/7</a:t>
            </a:r>
            <a:endParaRPr lang="en-US" sz="1295" dirty="0"/>
          </a:p>
        </p:txBody>
      </p:sp>
      <p:sp>
        <p:nvSpPr>
          <p:cNvPr id="11" name="Text 6"/>
          <p:cNvSpPr/>
          <p:nvPr/>
        </p:nvSpPr>
        <p:spPr>
          <a:xfrm>
            <a:off x="4347670" y="2068925"/>
            <a:ext cx="2008817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Telegram-бот, который всегда под рукой. Никаких сложных приложений — просто начни диалог.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4770" y="2848710"/>
            <a:ext cx="200025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47670" y="2798704"/>
            <a:ext cx="200881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КОМПЛЕКСНЫЙ ПОДХОД</a:t>
            </a:r>
            <a:endParaRPr lang="en-US" sz="1295" dirty="0"/>
          </a:p>
        </p:txBody>
      </p:sp>
      <p:sp>
        <p:nvSpPr>
          <p:cNvPr id="14" name="Text 8"/>
          <p:cNvSpPr/>
          <p:nvPr/>
        </p:nvSpPr>
        <p:spPr>
          <a:xfrm>
            <a:off x="4347670" y="3298766"/>
            <a:ext cx="2008817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От глубокой диагностики личности до выдачи списка актуальных вакансий в одном интерфейсе.</a:t>
            </a:r>
            <a:endParaRPr lang="en-US" sz="885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224" y="1854612"/>
            <a:ext cx="250031" cy="2000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85124" y="1804606"/>
            <a:ext cx="200881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ГЛУБОКАЯ ПЕРСОНАЛИЗАЦИЯ</a:t>
            </a:r>
            <a:endParaRPr lang="en-US" sz="1295" dirty="0"/>
          </a:p>
        </p:txBody>
      </p:sp>
      <p:sp>
        <p:nvSpPr>
          <p:cNvPr id="17" name="Text 10"/>
          <p:cNvSpPr/>
          <p:nvPr/>
        </p:nvSpPr>
        <p:spPr>
          <a:xfrm>
            <a:off x="6885124" y="2304669"/>
            <a:ext cx="2008817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Каждый совет адаптирован под возраст, интересы и текущие навыки пользователя.</a:t>
            </a:r>
            <a:endParaRPr lang="en-US" sz="885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2224" y="2919868"/>
            <a:ext cx="200025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85124" y="2869862"/>
            <a:ext cx="200881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МГНОВЕННЫЙ РЕЗУЛЬТАТ</a:t>
            </a:r>
            <a:endParaRPr lang="en-US" sz="1295" dirty="0"/>
          </a:p>
        </p:txBody>
      </p:sp>
      <p:sp>
        <p:nvSpPr>
          <p:cNvPr id="20" name="Text 12"/>
          <p:cNvSpPr/>
          <p:nvPr/>
        </p:nvSpPr>
        <p:spPr>
          <a:xfrm>
            <a:off x="6885124" y="3369925"/>
            <a:ext cx="2008817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Получение полного карьерного разбора занимает менее 2 минут благодаря AI.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7143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0056" y="235744"/>
            <a:ext cx="8672513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ЛОГИКА И АРХИТЕКТУРА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450056" y="914400"/>
            <a:ext cx="2533017" cy="239316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0056" y="914400"/>
            <a:ext cx="2533017" cy="23931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СБОР ДАННЫХ (7 ШАГОВ FSM)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664369" y="1260872"/>
            <a:ext cx="428625" cy="428625"/>
          </a:xfrm>
          <a:prstGeom prst="ellipse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4369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644333" y="1703784"/>
            <a:ext cx="4686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ВОЗРАСТ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1895466" y="1260872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95466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1940030" y="1703784"/>
            <a:ext cx="33949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УЧЕБА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3126563" y="1260872"/>
            <a:ext cx="428625" cy="428625"/>
          </a:xfrm>
          <a:prstGeom prst="ellipse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26563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3053144" y="1703784"/>
            <a:ext cx="5754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ИНТЕРЕСЫ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4357660" y="1260872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57660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4279162" y="1703784"/>
            <a:ext cx="5855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ПРЕДМЕТЫ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5588757" y="1260872"/>
            <a:ext cx="428625" cy="428625"/>
          </a:xfrm>
          <a:prstGeom prst="ellipse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88757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5579297" y="1703784"/>
            <a:ext cx="44751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НАВЫКИ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6819853" y="1260872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819853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6814049" y="1703784"/>
            <a:ext cx="44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ФОРМАТ</a:t>
            </a:r>
            <a:endParaRPr lang="en-US" sz="683" dirty="0"/>
          </a:p>
        </p:txBody>
      </p:sp>
      <p:sp>
        <p:nvSpPr>
          <p:cNvPr id="25" name="Shape 22"/>
          <p:cNvSpPr/>
          <p:nvPr/>
        </p:nvSpPr>
        <p:spPr>
          <a:xfrm>
            <a:off x="8050950" y="1260872"/>
            <a:ext cx="428625" cy="428625"/>
          </a:xfrm>
          <a:prstGeom prst="ellipse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050950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8124341" y="1703784"/>
            <a:ext cx="28184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ЦЕЛЬ</a:t>
            </a:r>
            <a:endParaRPr lang="en-US" sz="683" dirty="0"/>
          </a:p>
        </p:txBody>
      </p:sp>
      <p:sp>
        <p:nvSpPr>
          <p:cNvPr id="28" name="Shape 25"/>
          <p:cNvSpPr/>
          <p:nvPr/>
        </p:nvSpPr>
        <p:spPr>
          <a:xfrm>
            <a:off x="21431" y="2044898"/>
            <a:ext cx="9101138" cy="307717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1431" y="2044898"/>
            <a:ext cx="9101138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50056" y="2187773"/>
            <a:ext cx="8243888" cy="23931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50056" y="2187773"/>
            <a:ext cx="8243888" cy="23931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ТЕХНИЧЕСКИЙ ПУТЬ ЗАПРОСА</a:t>
            </a:r>
            <a:endParaRPr lang="en-US" sz="987" dirty="0"/>
          </a:p>
        </p:txBody>
      </p:sp>
      <p:sp>
        <p:nvSpPr>
          <p:cNvPr id="32" name="Shape 29"/>
          <p:cNvSpPr/>
          <p:nvPr/>
        </p:nvSpPr>
        <p:spPr>
          <a:xfrm>
            <a:off x="450056" y="3113782"/>
            <a:ext cx="1571625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459" y="3375254"/>
            <a:ext cx="276820" cy="28575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09935" y="3732442"/>
            <a:ext cx="65186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TELEGRAM</a:t>
            </a:r>
            <a:endParaRPr lang="en-US" sz="885" dirty="0"/>
          </a:p>
        </p:txBody>
      </p:sp>
      <p:sp>
        <p:nvSpPr>
          <p:cNvPr id="35" name="Text 31"/>
          <p:cNvSpPr/>
          <p:nvPr/>
        </p:nvSpPr>
        <p:spPr>
          <a:xfrm>
            <a:off x="557213" y="3932467"/>
            <a:ext cx="1357313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Ввод данных через интерфейс бота</a:t>
            </a:r>
            <a:endParaRPr lang="en-US" sz="584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4316" y="3670995"/>
            <a:ext cx="107156" cy="171450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2674107" y="3113782"/>
            <a:ext cx="1571625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044" y="3375254"/>
            <a:ext cx="285750" cy="28575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3173276" y="3732442"/>
            <a:ext cx="57328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</a:t>
            </a:r>
            <a:endParaRPr lang="en-US" sz="885" dirty="0"/>
          </a:p>
        </p:txBody>
      </p:sp>
      <p:sp>
        <p:nvSpPr>
          <p:cNvPr id="40" name="Text 34"/>
          <p:cNvSpPr/>
          <p:nvPr/>
        </p:nvSpPr>
        <p:spPr>
          <a:xfrm>
            <a:off x="2781263" y="3932467"/>
            <a:ext cx="1357313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Python/Aiogram обработка промпта</a:t>
            </a:r>
            <a:endParaRPr lang="en-US" sz="584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8366" y="3670995"/>
            <a:ext cx="107156" cy="171450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4898157" y="3113782"/>
            <a:ext cx="1571625" cy="1285875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1094" y="3426684"/>
            <a:ext cx="285750" cy="28575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392862" y="3783871"/>
            <a:ext cx="58221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ENGINE</a:t>
            </a:r>
            <a:endParaRPr lang="en-US" sz="885" dirty="0"/>
          </a:p>
        </p:txBody>
      </p:sp>
      <p:sp>
        <p:nvSpPr>
          <p:cNvPr id="45" name="Text 37"/>
          <p:cNvSpPr/>
          <p:nvPr/>
        </p:nvSpPr>
        <p:spPr>
          <a:xfrm>
            <a:off x="5071002" y="3983896"/>
            <a:ext cx="1225907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DeepSeek-V3 анализ профиля</a:t>
            </a:r>
            <a:endParaRPr lang="en-US" sz="584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2416" y="3670995"/>
            <a:ext cx="107156" cy="171450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7122207" y="3113782"/>
            <a:ext cx="1571625" cy="1285875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7285" y="3426684"/>
            <a:ext cx="321469" cy="28575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544302" y="3783871"/>
            <a:ext cx="7274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РЕЗУЛЬТАТ</a:t>
            </a:r>
            <a:endParaRPr lang="en-US" sz="885" dirty="0"/>
          </a:p>
        </p:txBody>
      </p:sp>
      <p:sp>
        <p:nvSpPr>
          <p:cNvPr id="50" name="Text 40"/>
          <p:cNvSpPr/>
          <p:nvPr/>
        </p:nvSpPr>
        <p:spPr>
          <a:xfrm>
            <a:off x="7302252" y="3983896"/>
            <a:ext cx="1211535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Трек и вакансии с HeadHunter</a:t>
            </a:r>
            <a:endParaRPr lang="en-US" sz="5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10001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0056" y="307181"/>
            <a:ext cx="8243888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ИНТЕЛЛЕКТУАЛЬНЫЙ АНАЛИЗ ПРОФИЛЯ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307181" y="1164431"/>
            <a:ext cx="4179094" cy="1345871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4" y="1335881"/>
            <a:ext cx="257175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494" y="1707356"/>
            <a:ext cx="37504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ТОП-3 НАПРАВЛЕНИЯ</a:t>
            </a:r>
            <a:endParaRPr lang="en-US" sz="1295" dirty="0"/>
          </a:p>
        </p:txBody>
      </p:sp>
      <p:sp>
        <p:nvSpPr>
          <p:cNvPr id="8" name="Text 4"/>
          <p:cNvSpPr/>
          <p:nvPr/>
        </p:nvSpPr>
        <p:spPr>
          <a:xfrm>
            <a:off x="521494" y="2000250"/>
            <a:ext cx="37504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Подбор трех наиболее подходящих профессий на основе интересов, образования и навыков пользователя.</a:t>
            </a:r>
            <a:endParaRPr lang="en-US" sz="88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753" y="1346597"/>
            <a:ext cx="289322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82753" y="1718072"/>
            <a:ext cx="37290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СИЛЬНЫЕ СТОРОНЫ</a:t>
            </a:r>
            <a:endParaRPr lang="en-US" sz="1295" dirty="0"/>
          </a:p>
        </p:txBody>
      </p:sp>
      <p:sp>
        <p:nvSpPr>
          <p:cNvPr id="11" name="Text 6"/>
          <p:cNvSpPr/>
          <p:nvPr/>
        </p:nvSpPr>
        <p:spPr>
          <a:xfrm>
            <a:off x="4882753" y="2010966"/>
            <a:ext cx="37290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Выявление ключевых компетенций и талантов, которые помогут пользователю выделиться на рынке труда.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209" y="2778193"/>
            <a:ext cx="257175" cy="2571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2209" y="3149668"/>
            <a:ext cx="37290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 GAP ANALYSIS</a:t>
            </a:r>
            <a:endParaRPr lang="en-US" sz="1295" dirty="0"/>
          </a:p>
        </p:txBody>
      </p:sp>
      <p:sp>
        <p:nvSpPr>
          <p:cNvPr id="14" name="Text 8"/>
          <p:cNvSpPr/>
          <p:nvPr/>
        </p:nvSpPr>
        <p:spPr>
          <a:xfrm>
            <a:off x="532209" y="3442562"/>
            <a:ext cx="37290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Четкий список навыков, которые необходимо развить для достижения поставленных карьерных целей.</a:t>
            </a:r>
            <a:endParaRPr lang="en-US" sz="885" dirty="0"/>
          </a:p>
        </p:txBody>
      </p:sp>
      <p:sp>
        <p:nvSpPr>
          <p:cNvPr id="15" name="Shape 9"/>
          <p:cNvSpPr/>
          <p:nvPr/>
        </p:nvSpPr>
        <p:spPr>
          <a:xfrm>
            <a:off x="4657725" y="2596028"/>
            <a:ext cx="4179094" cy="1345871"/>
          </a:xfrm>
          <a:prstGeom prst="rect">
            <a:avLst/>
          </a:prstGeom>
          <a:solidFill>
            <a:srgbClr val="4CAF50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038" y="2767478"/>
            <a:ext cx="257175" cy="2571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72038" y="3138953"/>
            <a:ext cx="37504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ДОРОЖНАЯ КАРТА</a:t>
            </a:r>
            <a:endParaRPr lang="en-US" sz="1295" dirty="0"/>
          </a:p>
        </p:txBody>
      </p:sp>
      <p:sp>
        <p:nvSpPr>
          <p:cNvPr id="18" name="Text 11"/>
          <p:cNvSpPr/>
          <p:nvPr/>
        </p:nvSpPr>
        <p:spPr>
          <a:xfrm>
            <a:off x="4872038" y="3431846"/>
            <a:ext cx="37504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Конкретные первые шаги (обучение, стажировки, проекты), которые можно реализовать уже сегодня.</a:t>
            </a:r>
            <a:endParaRPr lang="en-US" sz="885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056" y="4216933"/>
            <a:ext cx="128588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50081" y="4199074"/>
            <a:ext cx="492759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Анализ выполняется моделью DeepSeek-V3 с учетом специфики рынка СНГ.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3190382" cy="51149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73658" y="271463"/>
            <a:ext cx="1471613" cy="900113"/>
          </a:xfrm>
          <a:prstGeom prst="rect">
            <a:avLst/>
          </a:prstGeom>
          <a:solidFill>
            <a:srgbClr val="FF5722"/>
          </a:solidFill>
          <a:ln w="18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3658" y="271463"/>
            <a:ext cx="1471613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hh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4288" y="1185863"/>
            <a:ext cx="3190382" cy="435769"/>
          </a:xfrm>
          <a:prstGeom prst="rect">
            <a:avLst/>
          </a:prstGeom>
          <a:noFill/>
          <a:ln/>
        </p:spPr>
        <p:txBody>
          <a:bodyPr wrap="square" lIns="136017" tIns="0" rIns="136017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Интеграция с крупнейшим сервисом поиска работы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3490420" y="620195"/>
            <a:ext cx="5353515" cy="424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РАБОТА С РЫНКОМ ТРУДА</a:t>
            </a:r>
            <a:endParaRPr lang="en-US" sz="2755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420" y="1237404"/>
            <a:ext cx="20002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9045" y="1187397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РЕАЛЬНЫЕ ВАКАНСИИ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3919045" y="1485649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Бот не просто дает советы, он ищет работу прямо сейчас через официальный API HeadHunter.</a:t>
            </a:r>
            <a:endParaRPr lang="en-US" sz="987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420" y="1992855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19045" y="1942849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УМНЫЕ ФИЛЬТРЫ</a:t>
            </a:r>
            <a:endParaRPr lang="en-US" sz="1397" dirty="0"/>
          </a:p>
        </p:txBody>
      </p:sp>
      <p:sp>
        <p:nvSpPr>
          <p:cNvPr id="13" name="Text 8"/>
          <p:cNvSpPr/>
          <p:nvPr/>
        </p:nvSpPr>
        <p:spPr>
          <a:xfrm>
            <a:off x="3919045" y="2241100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Автоматический подбор по ключевым словам, интересам и навыкам, выявленным AI.</a:t>
            </a:r>
            <a:endParaRPr lang="en-US" sz="987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0420" y="2748307"/>
            <a:ext cx="200025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19045" y="2698300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АКТУАЛЬНОСТЬ 100%</a:t>
            </a:r>
            <a:endParaRPr lang="en-US" sz="1397" dirty="0"/>
          </a:p>
        </p:txBody>
      </p:sp>
      <p:sp>
        <p:nvSpPr>
          <p:cNvPr id="16" name="Text 10"/>
          <p:cNvSpPr/>
          <p:nvPr/>
        </p:nvSpPr>
        <p:spPr>
          <a:xfrm>
            <a:off x="3919045" y="2996552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Выдача только свежих предложений с сортировкой по времени публикации.</a:t>
            </a:r>
            <a:endParaRPr lang="en-US" sz="987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0420" y="3503758"/>
            <a:ext cx="200025" cy="2000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919045" y="3453752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ПРЯМОЙ ОТКЛИК</a:t>
            </a:r>
            <a:endParaRPr lang="en-US" sz="1397" dirty="0"/>
          </a:p>
        </p:txBody>
      </p:sp>
      <p:sp>
        <p:nvSpPr>
          <p:cNvPr id="19" name="Text 12"/>
          <p:cNvSpPr/>
          <p:nvPr/>
        </p:nvSpPr>
        <p:spPr>
          <a:xfrm>
            <a:off x="3919045" y="3752004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Каждая вакансия сопровождается прямой ссылкой для быстрого перехода и отклика.</a:t>
            </a:r>
            <a:endParaRPr lang="en-US" sz="98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" y="78581"/>
            <a:ext cx="9101138" cy="94297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8581" y="1000125"/>
            <a:ext cx="9101138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7206" y="364331"/>
            <a:ext cx="867251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ПРЕИМУЩЕСТВА ДЛЯ МОЛОДЕЖИ (16-22)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313250" y="1178719"/>
            <a:ext cx="542925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446" y="1314450"/>
            <a:ext cx="262533" cy="2714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217" y="1835944"/>
            <a:ext cx="189496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ЗНАКОМАЯ СРЕДА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278606" y="2127386"/>
            <a:ext cx="261221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 нужно скачивать новые приложения или регистрироваться — весь путь в привычном мессенджере.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3112275" y="1021556"/>
            <a:ext cx="3033722" cy="3643313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124566" y="1021556"/>
            <a:ext cx="21431" cy="364331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57660" y="1178719"/>
            <a:ext cx="542925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458" y="1314450"/>
            <a:ext cx="339328" cy="2714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05123" y="1835944"/>
            <a:ext cx="184799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ЯЗЫК МОЛОДЕЖИ</a:t>
            </a:r>
            <a:endParaRPr lang="en-US" sz="1397" dirty="0"/>
          </a:p>
        </p:txBody>
      </p:sp>
      <p:sp>
        <p:nvSpPr>
          <p:cNvPr id="15" name="Text 10"/>
          <p:cNvSpPr/>
          <p:nvPr/>
        </p:nvSpPr>
        <p:spPr>
          <a:xfrm>
            <a:off x="3312300" y="2127386"/>
            <a:ext cx="2633672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Бот общается просто и без лишней бюрократии — интуитивный интерфейс с кнопками.</a:t>
            </a:r>
            <a:endParaRPr lang="en-US" sz="885" dirty="0"/>
          </a:p>
        </p:txBody>
      </p:sp>
      <p:sp>
        <p:nvSpPr>
          <p:cNvPr id="16" name="Shape 11"/>
          <p:cNvSpPr/>
          <p:nvPr/>
        </p:nvSpPr>
        <p:spPr>
          <a:xfrm>
            <a:off x="7391381" y="1178719"/>
            <a:ext cx="542925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113" y="1314450"/>
            <a:ext cx="271463" cy="2714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65903" y="1835944"/>
            <a:ext cx="2393854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БЕСПЛАТНО И БЫСТРО</a:t>
            </a:r>
            <a:endParaRPr lang="en-US" sz="1397" dirty="0"/>
          </a:p>
        </p:txBody>
      </p:sp>
      <p:sp>
        <p:nvSpPr>
          <p:cNvPr id="19" name="Text 13"/>
          <p:cNvSpPr/>
          <p:nvPr/>
        </p:nvSpPr>
        <p:spPr>
          <a:xfrm>
            <a:off x="6346022" y="2127386"/>
            <a:ext cx="26336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Экспертная аналитика уровня консультанта за 0 ₽ и менее 2 минут.</a:t>
            </a:r>
            <a:endParaRPr lang="en-US" sz="885" dirty="0"/>
          </a:p>
        </p:txBody>
      </p:sp>
      <p:sp>
        <p:nvSpPr>
          <p:cNvPr id="20" name="Shape 14"/>
          <p:cNvSpPr/>
          <p:nvPr/>
        </p:nvSpPr>
        <p:spPr>
          <a:xfrm>
            <a:off x="78581" y="4664869"/>
            <a:ext cx="9101138" cy="5143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" y="4843463"/>
            <a:ext cx="157163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1525" y="4821138"/>
            <a:ext cx="475134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говорим на одном языке с будущими профессионалами.</a:t>
            </a:r>
            <a:endParaRPr lang="en-US" sz="10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4095490" cy="5100638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095490" y="21431"/>
            <a:ext cx="21431" cy="51006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207" y="1655564"/>
            <a:ext cx="1785938" cy="1428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29311" y="3155752"/>
            <a:ext cx="1679730" cy="33218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229311" y="3155752"/>
            <a:ext cx="1679730" cy="33218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проекта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4545546" y="770213"/>
            <a:ext cx="4148370" cy="424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И ВКЛАД</a:t>
            </a:r>
            <a:endParaRPr lang="en-US" sz="275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546" y="1376707"/>
            <a:ext cx="28575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45608" y="1337416"/>
            <a:ext cx="364830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РАЗРАБОТКА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5045608" y="1649955"/>
            <a:ext cx="364830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Реализован полный цикл: от обработки состояний (FSM) до интеграции внешних API (Telegram, OpenRouter, HeadHunter).</a:t>
            </a:r>
            <a:endParaRPr lang="en-US" sz="987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5546" y="2417908"/>
            <a:ext cx="28575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45608" y="2378618"/>
            <a:ext cx="364830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ПРОДУКТ</a:t>
            </a:r>
            <a:endParaRPr lang="en-US" sz="1397" dirty="0"/>
          </a:p>
        </p:txBody>
      </p:sp>
      <p:sp>
        <p:nvSpPr>
          <p:cNvPr id="14" name="Text 8"/>
          <p:cNvSpPr/>
          <p:nvPr/>
        </p:nvSpPr>
        <p:spPr>
          <a:xfrm>
            <a:off x="5045608" y="2691157"/>
            <a:ext cx="364830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Создана работающая MVP-модель, готовая к немедленному тестированию и масштабированию на реальных пользователях.</a:t>
            </a:r>
            <a:endParaRPr lang="en-US" sz="987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5546" y="3459110"/>
            <a:ext cx="257175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45608" y="3419819"/>
            <a:ext cx="364830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ВИЗИЯ</a:t>
            </a:r>
            <a:endParaRPr lang="en-US" sz="1397" dirty="0"/>
          </a:p>
        </p:txBody>
      </p:sp>
      <p:sp>
        <p:nvSpPr>
          <p:cNvPr id="17" name="Text 10"/>
          <p:cNvSpPr/>
          <p:nvPr/>
        </p:nvSpPr>
        <p:spPr>
          <a:xfrm>
            <a:off x="5045608" y="3732358"/>
            <a:ext cx="364830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строим технологический мост между академическим образованием и требованиями реального рынка труда.</a:t>
            </a:r>
            <a:endParaRPr lang="en-US" sz="98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4550569" cy="510063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550569" y="21431"/>
            <a:ext cx="21431" cy="51006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0056" y="1042122"/>
            <a:ext cx="3693319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НАЧНИ СВОЙ ПУТЬ СЕГОДНЯ!</a:t>
            </a:r>
            <a:endParaRPr lang="en-US" sz="3294" dirty="0"/>
          </a:p>
        </p:txBody>
      </p:sp>
      <p:sp>
        <p:nvSpPr>
          <p:cNvPr id="6" name="Shape 3"/>
          <p:cNvSpPr/>
          <p:nvPr/>
        </p:nvSpPr>
        <p:spPr>
          <a:xfrm>
            <a:off x="450056" y="2836599"/>
            <a:ext cx="3693319" cy="54113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0056" y="2836599"/>
            <a:ext cx="3693319" cy="541139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Попробуй бота прямо сейчас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450056" y="3806363"/>
            <a:ext cx="3693319" cy="817959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— твой компас в мире профессий!</a:t>
            </a:r>
            <a:endParaRPr lang="en-US" sz="1602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F3CDCDD2-B734-3DE4-B994-F890D0F92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836" y="1157479"/>
            <a:ext cx="221456" cy="228600"/>
          </a:xfrm>
          <a:prstGeom prst="rect">
            <a:avLst/>
          </a:prstGeom>
        </p:spPr>
      </p:pic>
      <p:sp>
        <p:nvSpPr>
          <p:cNvPr id="18" name="Text 6">
            <a:extLst>
              <a:ext uri="{FF2B5EF4-FFF2-40B4-BE49-F238E27FC236}">
                <a16:creationId xmlns:a16="http://schemas.microsoft.com/office/drawing/2014/main" id="{31F93CFC-EC01-BC27-6125-831495AE3921}"/>
              </a:ext>
            </a:extLst>
          </p:cNvPr>
          <p:cNvSpPr/>
          <p:nvPr/>
        </p:nvSpPr>
        <p:spPr>
          <a:xfrm>
            <a:off x="5402461" y="1169088"/>
            <a:ext cx="2428550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github.com/Healthy06/</a:t>
            </a:r>
            <a:r>
              <a:rPr lang="en-US" sz="1193" b="1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MyCareerStart</a:t>
            </a:r>
            <a:endParaRPr lang="en-US" sz="1193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AF00EF6C-F524-0E31-AAC7-10EBCC98A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836" y="1662900"/>
            <a:ext cx="221456" cy="228600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97997A11-D586-976F-A47B-CF898729F2CA}"/>
              </a:ext>
            </a:extLst>
          </p:cNvPr>
          <p:cNvSpPr/>
          <p:nvPr/>
        </p:nvSpPr>
        <p:spPr>
          <a:xfrm>
            <a:off x="5402461" y="1674508"/>
            <a:ext cx="1107676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@hakaton26_bot</a:t>
            </a:r>
            <a:endParaRPr lang="en-US" sz="1193" dirty="0"/>
          </a:p>
        </p:txBody>
      </p:sp>
      <p:pic>
        <p:nvPicPr>
          <p:cNvPr id="21" name="Изображение 16">
            <a:extLst>
              <a:ext uri="{FF2B5EF4-FFF2-40B4-BE49-F238E27FC236}">
                <a16:creationId xmlns:a16="http://schemas.microsoft.com/office/drawing/2014/main" id="{090BEC34-8E08-AB6F-4791-B74EFD5EE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827" y="2202636"/>
            <a:ext cx="1748790" cy="1989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545</Words>
  <Application>Microsoft Office PowerPoint</Application>
  <PresentationFormat>On-screen Show (16:9)</PresentationFormat>
  <Paragraphs>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Kai Flynn</cp:lastModifiedBy>
  <cp:revision>2</cp:revision>
  <dcterms:created xsi:type="dcterms:W3CDTF">2026-04-05T03:19:18Z</dcterms:created>
  <dcterms:modified xsi:type="dcterms:W3CDTF">2026-04-05T03:21:34Z</dcterms:modified>
</cp:coreProperties>
</file>