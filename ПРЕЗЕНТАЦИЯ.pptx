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56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4771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jpe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jpe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jpe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943600" cy="5143500"/>
          </a:xfrm>
          <a:prstGeom prst="rect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5922169" y="0"/>
            <a:ext cx="21431" cy="514350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28625" y="1547431"/>
            <a:ext cx="5086350" cy="1333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353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</a:rPr>
              <a:t>Telegram </a:t>
            </a:r>
            <a:r>
              <a:rPr lang="ru-RU" sz="4353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</a:rPr>
              <a:t>бот </a:t>
            </a:r>
            <a:r>
              <a:rPr lang="en-US" sz="4353" b="1" dirty="0" err="1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</a:rPr>
              <a:t>MyCareerStart</a:t>
            </a:r>
            <a:endParaRPr lang="en-US" sz="4353" dirty="0"/>
          </a:p>
        </p:txBody>
      </p:sp>
      <p:sp>
        <p:nvSpPr>
          <p:cNvPr id="6" name="Shape 3"/>
          <p:cNvSpPr/>
          <p:nvPr/>
        </p:nvSpPr>
        <p:spPr>
          <a:xfrm>
            <a:off x="428625" y="3081886"/>
            <a:ext cx="5086350" cy="46255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28625" y="3081886"/>
            <a:ext cx="5086350" cy="462558"/>
          </a:xfrm>
          <a:prstGeom prst="rect">
            <a:avLst/>
          </a:prstGeom>
          <a:noFill/>
          <a:ln/>
        </p:spPr>
        <p:txBody>
          <a:bodyPr wrap="square" lIns="170053" tIns="102108" rIns="170053" bIns="102108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Твой умный старт в профессию</a:t>
            </a:r>
            <a:endParaRPr lang="en-US" sz="1602" dirty="0"/>
          </a:p>
        </p:txBody>
      </p:sp>
      <p:sp>
        <p:nvSpPr>
          <p:cNvPr id="8" name="Text 5"/>
          <p:cNvSpPr/>
          <p:nvPr/>
        </p:nvSpPr>
        <p:spPr>
          <a:xfrm>
            <a:off x="428625" y="3687319"/>
            <a:ext cx="5086350" cy="310753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Хакатон: КАРЬЕРНЫЙ ТРЕК AI • 2026</a:t>
            </a:r>
            <a:endParaRPr lang="en-US" sz="1193" dirty="0"/>
          </a:p>
        </p:txBody>
      </p:sp>
      <p:sp>
        <p:nvSpPr>
          <p:cNvPr id="9" name="Shape 6"/>
          <p:cNvSpPr/>
          <p:nvPr/>
        </p:nvSpPr>
        <p:spPr>
          <a:xfrm rot="900000">
            <a:off x="6472238" y="1500188"/>
            <a:ext cx="2143125" cy="2143125"/>
          </a:xfrm>
          <a:prstGeom prst="rect">
            <a:avLst/>
          </a:prstGeom>
          <a:solidFill>
            <a:srgbClr val="4CAF50"/>
          </a:solidFill>
          <a:ln w="18288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4073" y="2035969"/>
            <a:ext cx="1339453" cy="107156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44" y="7144"/>
            <a:ext cx="9129713" cy="10001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303609" y="288429"/>
            <a:ext cx="8272463" cy="4375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ПРОБЛЕМА: ПОТЕРЯННОЕ ПОКОЛЕНИЕ</a:t>
            </a:r>
            <a:endParaRPr lang="en-US" sz="2436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609" y="1262658"/>
            <a:ext cx="285750" cy="2857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03609" y="1682353"/>
            <a:ext cx="3971925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ОТСУТСТВИЕ ОРИЕНТАЦИИ</a:t>
            </a:r>
            <a:endParaRPr lang="en-US" sz="1397" dirty="0"/>
          </a:p>
        </p:txBody>
      </p:sp>
      <p:sp>
        <p:nvSpPr>
          <p:cNvPr id="7" name="Text 3"/>
          <p:cNvSpPr/>
          <p:nvPr/>
        </p:nvSpPr>
        <p:spPr>
          <a:xfrm>
            <a:off x="303609" y="2009180"/>
            <a:ext cx="3971925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70% молодых людей не знают, какую профессию выбрать после учебы. Они тратят годы на обучение специальностям, которые им не интересны.</a:t>
            </a:r>
            <a:endParaRPr lang="en-US" sz="885" dirty="0"/>
          </a:p>
        </p:txBody>
      </p:sp>
      <p:sp>
        <p:nvSpPr>
          <p:cNvPr id="8" name="Shape 4"/>
          <p:cNvSpPr/>
          <p:nvPr/>
        </p:nvSpPr>
        <p:spPr>
          <a:xfrm>
            <a:off x="4572000" y="1007269"/>
            <a:ext cx="4564856" cy="1807369"/>
          </a:xfrm>
          <a:prstGeom prst="rect">
            <a:avLst/>
          </a:prstGeom>
          <a:solidFill>
            <a:srgbClr val="FF5722"/>
          </a:solidFill>
          <a:ln w="9144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0" y="1251942"/>
            <a:ext cx="285750" cy="2857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857750" y="1671638"/>
            <a:ext cx="3993356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СЛОЖНОСТИ ТРУДОУСТРОЙСТВА</a:t>
            </a:r>
            <a:endParaRPr lang="en-US" sz="1397" dirty="0"/>
          </a:p>
        </p:txBody>
      </p:sp>
      <p:sp>
        <p:nvSpPr>
          <p:cNvPr id="11" name="Text 6"/>
          <p:cNvSpPr/>
          <p:nvPr/>
        </p:nvSpPr>
        <p:spPr>
          <a:xfrm>
            <a:off x="4857750" y="1998464"/>
            <a:ext cx="3993356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Трудно найти подработку, которая реально развивает нужные навыки. Рынок переполнен вакансиями, не подходящими для студентов.</a:t>
            </a:r>
            <a:endParaRPr lang="en-US" sz="885" dirty="0"/>
          </a:p>
        </p:txBody>
      </p:sp>
      <p:sp>
        <p:nvSpPr>
          <p:cNvPr id="12" name="Shape 7"/>
          <p:cNvSpPr/>
          <p:nvPr/>
        </p:nvSpPr>
        <p:spPr>
          <a:xfrm>
            <a:off x="7144" y="2814638"/>
            <a:ext cx="4564856" cy="1807369"/>
          </a:xfrm>
          <a:prstGeom prst="rect">
            <a:avLst/>
          </a:prstGeom>
          <a:solidFill>
            <a:srgbClr val="FF5722"/>
          </a:solidFill>
          <a:ln w="9144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2894" y="3059311"/>
            <a:ext cx="285750" cy="28575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292894" y="3479006"/>
            <a:ext cx="3993356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НЕЯСНОСТЬ ПУТИ</a:t>
            </a:r>
            <a:endParaRPr lang="en-US" sz="1397" dirty="0"/>
          </a:p>
        </p:txBody>
      </p:sp>
      <p:sp>
        <p:nvSpPr>
          <p:cNvPr id="15" name="Text 9"/>
          <p:cNvSpPr/>
          <p:nvPr/>
        </p:nvSpPr>
        <p:spPr>
          <a:xfrm>
            <a:off x="292894" y="3805833"/>
            <a:ext cx="3993356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Нет понимания, какие шаги предпринять сегодня для достижения цели через 5 лет. Карьерный путь кажется туманным и пугающим.</a:t>
            </a:r>
            <a:endParaRPr lang="en-US" sz="885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68466" y="3070027"/>
            <a:ext cx="285750" cy="28575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868466" y="3489722"/>
            <a:ext cx="3971925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ПОТЕРЯ ПОТЕНЦИАЛА</a:t>
            </a:r>
            <a:endParaRPr lang="en-US" sz="1397" dirty="0"/>
          </a:p>
        </p:txBody>
      </p:sp>
      <p:sp>
        <p:nvSpPr>
          <p:cNvPr id="18" name="Text 11"/>
          <p:cNvSpPr/>
          <p:nvPr/>
        </p:nvSpPr>
        <p:spPr>
          <a:xfrm>
            <a:off x="4868466" y="3816548"/>
            <a:ext cx="3971925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Результат: Потеря потенциала и времени на старте профессионального пути. Молодежь теряет мотивацию еще до начала реальной карьеры.</a:t>
            </a:r>
            <a:endParaRPr lang="en-US" sz="885" dirty="0"/>
          </a:p>
        </p:txBody>
      </p:sp>
      <p:sp>
        <p:nvSpPr>
          <p:cNvPr id="19" name="Shape 12"/>
          <p:cNvSpPr/>
          <p:nvPr/>
        </p:nvSpPr>
        <p:spPr>
          <a:xfrm>
            <a:off x="7144" y="4622006"/>
            <a:ext cx="9129713" cy="514350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3"/>
          <p:cNvSpPr/>
          <p:nvPr/>
        </p:nvSpPr>
        <p:spPr>
          <a:xfrm>
            <a:off x="7144" y="4622006"/>
            <a:ext cx="9129713" cy="21431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5769" y="4800600"/>
            <a:ext cx="157163" cy="157163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700088" y="4778276"/>
            <a:ext cx="4724112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Мы превращаем неопределенность в четкий план развития.</a:t>
            </a:r>
            <a:endParaRPr lang="en-US" sz="109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8581" y="78581"/>
            <a:ext cx="3640438" cy="5100638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3697588" y="78581"/>
            <a:ext cx="21431" cy="510063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5146" y="1880592"/>
            <a:ext cx="1107281" cy="11430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841930" y="3109317"/>
            <a:ext cx="2113741" cy="267891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841930" y="3109317"/>
            <a:ext cx="2113741" cy="267891"/>
          </a:xfrm>
          <a:prstGeom prst="rect">
            <a:avLst/>
          </a:prstGeom>
          <a:noFill/>
          <a:ln/>
        </p:spPr>
        <p:txBody>
          <a:bodyPr wrap="square" lIns="136017" tIns="51054" rIns="136017" bIns="51054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Ваш карьерный навигатор</a:t>
            </a:r>
            <a:endParaRPr lang="en-US" sz="987" dirty="0"/>
          </a:p>
        </p:txBody>
      </p:sp>
      <p:sp>
        <p:nvSpPr>
          <p:cNvPr id="8" name="Text 4"/>
          <p:cNvSpPr/>
          <p:nvPr/>
        </p:nvSpPr>
        <p:spPr>
          <a:xfrm>
            <a:off x="4004770" y="827363"/>
            <a:ext cx="4889171" cy="848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75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РЕШЕНИЕ: AI-НАВИГАТОР В КАРМАНЕ</a:t>
            </a:r>
            <a:endParaRPr lang="en-US" sz="2755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4770" y="1854612"/>
            <a:ext cx="150019" cy="20002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347670" y="1804606"/>
            <a:ext cx="2008817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ДОСТУПНОСТЬ 24/7</a:t>
            </a:r>
            <a:endParaRPr lang="en-US" sz="1295" dirty="0"/>
          </a:p>
        </p:txBody>
      </p:sp>
      <p:sp>
        <p:nvSpPr>
          <p:cNvPr id="11" name="Text 6"/>
          <p:cNvSpPr/>
          <p:nvPr/>
        </p:nvSpPr>
        <p:spPr>
          <a:xfrm>
            <a:off x="4347670" y="2068925"/>
            <a:ext cx="2008817" cy="658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Telegram-бот, который всегда под рукой. Никаких сложных приложений — просто начни диалог.</a:t>
            </a:r>
            <a:endParaRPr lang="en-US" sz="885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04770" y="2848710"/>
            <a:ext cx="200025" cy="20002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347670" y="2798704"/>
            <a:ext cx="2008817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КОМПЛЕКСНЫЙ ПОДХОД</a:t>
            </a:r>
            <a:endParaRPr lang="en-US" sz="1295" dirty="0"/>
          </a:p>
        </p:txBody>
      </p:sp>
      <p:sp>
        <p:nvSpPr>
          <p:cNvPr id="14" name="Text 8"/>
          <p:cNvSpPr/>
          <p:nvPr/>
        </p:nvSpPr>
        <p:spPr>
          <a:xfrm>
            <a:off x="4347670" y="3298766"/>
            <a:ext cx="2008817" cy="6583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От глубокой диагностики личности до выдачи списка актуальных вакансий в одном интерфейсе.</a:t>
            </a:r>
            <a:endParaRPr lang="en-US" sz="885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2224" y="1854612"/>
            <a:ext cx="250031" cy="20002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885124" y="1804606"/>
            <a:ext cx="2008817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ГЛУБОКАЯ ПЕРСОНАЛИЗАЦИЯ</a:t>
            </a:r>
            <a:endParaRPr lang="en-US" sz="1295" dirty="0"/>
          </a:p>
        </p:txBody>
      </p:sp>
      <p:sp>
        <p:nvSpPr>
          <p:cNvPr id="17" name="Text 10"/>
          <p:cNvSpPr/>
          <p:nvPr/>
        </p:nvSpPr>
        <p:spPr>
          <a:xfrm>
            <a:off x="6885124" y="2304669"/>
            <a:ext cx="2008817" cy="493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Каждый совет адаптирован под возраст, интересы и текущие навыки пользователя.</a:t>
            </a:r>
            <a:endParaRPr lang="en-US" sz="885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42224" y="2919868"/>
            <a:ext cx="200025" cy="200025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885124" y="2869862"/>
            <a:ext cx="2008817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МГНОВЕННЫЙ РЕЗУЛЬТАТ</a:t>
            </a:r>
            <a:endParaRPr lang="en-US" sz="1295" dirty="0"/>
          </a:p>
        </p:txBody>
      </p:sp>
      <p:sp>
        <p:nvSpPr>
          <p:cNvPr id="20" name="Text 12"/>
          <p:cNvSpPr/>
          <p:nvPr/>
        </p:nvSpPr>
        <p:spPr>
          <a:xfrm>
            <a:off x="6885124" y="3369925"/>
            <a:ext cx="2008817" cy="493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Получение полного карьерного разбора занимает менее 2 минут благодаря AI.</a:t>
            </a:r>
            <a:endParaRPr lang="en-US" sz="88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1431" y="21431"/>
            <a:ext cx="9101138" cy="71437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50056" y="235744"/>
            <a:ext cx="8672513" cy="3821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ЛОГИКА И АРХИТЕКТУРА</a:t>
            </a:r>
            <a:endParaRPr lang="en-US" sz="2121" dirty="0"/>
          </a:p>
        </p:txBody>
      </p:sp>
      <p:sp>
        <p:nvSpPr>
          <p:cNvPr id="5" name="Shape 2"/>
          <p:cNvSpPr/>
          <p:nvPr/>
        </p:nvSpPr>
        <p:spPr>
          <a:xfrm>
            <a:off x="450056" y="914400"/>
            <a:ext cx="2533017" cy="239316"/>
          </a:xfrm>
          <a:prstGeom prst="rect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50056" y="914400"/>
            <a:ext cx="2533017" cy="239316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1. СБОР ДАННЫХ (7 ШАГОВ FSM)</a:t>
            </a:r>
            <a:endParaRPr lang="en-US" sz="987" dirty="0"/>
          </a:p>
        </p:txBody>
      </p:sp>
      <p:sp>
        <p:nvSpPr>
          <p:cNvPr id="7" name="Shape 4"/>
          <p:cNvSpPr/>
          <p:nvPr/>
        </p:nvSpPr>
        <p:spPr>
          <a:xfrm>
            <a:off x="664369" y="1260872"/>
            <a:ext cx="428625" cy="428625"/>
          </a:xfrm>
          <a:prstGeom prst="ellipse">
            <a:avLst/>
          </a:prstGeom>
          <a:solidFill>
            <a:srgbClr val="4CAF50"/>
          </a:solidFill>
          <a:ln w="18288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64369" y="1260872"/>
            <a:ext cx="4286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644333" y="1703784"/>
            <a:ext cx="468669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ВОЗРАСТ</a:t>
            </a:r>
            <a:endParaRPr lang="en-US" sz="683" dirty="0"/>
          </a:p>
        </p:txBody>
      </p:sp>
      <p:sp>
        <p:nvSpPr>
          <p:cNvPr id="10" name="Shape 7"/>
          <p:cNvSpPr/>
          <p:nvPr/>
        </p:nvSpPr>
        <p:spPr>
          <a:xfrm>
            <a:off x="1895466" y="1260872"/>
            <a:ext cx="428625" cy="428625"/>
          </a:xfrm>
          <a:prstGeom prst="ellipse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895466" y="1260872"/>
            <a:ext cx="4286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1193" dirty="0"/>
          </a:p>
        </p:txBody>
      </p:sp>
      <p:sp>
        <p:nvSpPr>
          <p:cNvPr id="12" name="Text 9"/>
          <p:cNvSpPr/>
          <p:nvPr/>
        </p:nvSpPr>
        <p:spPr>
          <a:xfrm>
            <a:off x="1940030" y="1703784"/>
            <a:ext cx="33949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УЧЕБА</a:t>
            </a:r>
            <a:endParaRPr lang="en-US" sz="683" dirty="0"/>
          </a:p>
        </p:txBody>
      </p:sp>
      <p:sp>
        <p:nvSpPr>
          <p:cNvPr id="13" name="Shape 10"/>
          <p:cNvSpPr/>
          <p:nvPr/>
        </p:nvSpPr>
        <p:spPr>
          <a:xfrm>
            <a:off x="3126563" y="1260872"/>
            <a:ext cx="428625" cy="428625"/>
          </a:xfrm>
          <a:prstGeom prst="ellipse">
            <a:avLst/>
          </a:prstGeom>
          <a:solidFill>
            <a:srgbClr val="4CAF50"/>
          </a:solidFill>
          <a:ln w="18288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126563" y="1260872"/>
            <a:ext cx="4286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1193" dirty="0"/>
          </a:p>
        </p:txBody>
      </p:sp>
      <p:sp>
        <p:nvSpPr>
          <p:cNvPr id="15" name="Text 12"/>
          <p:cNvSpPr/>
          <p:nvPr/>
        </p:nvSpPr>
        <p:spPr>
          <a:xfrm>
            <a:off x="3053144" y="1703784"/>
            <a:ext cx="57546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ИНТЕРЕСЫ</a:t>
            </a:r>
            <a:endParaRPr lang="en-US" sz="683" dirty="0"/>
          </a:p>
        </p:txBody>
      </p:sp>
      <p:sp>
        <p:nvSpPr>
          <p:cNvPr id="16" name="Shape 13"/>
          <p:cNvSpPr/>
          <p:nvPr/>
        </p:nvSpPr>
        <p:spPr>
          <a:xfrm>
            <a:off x="4357660" y="1260872"/>
            <a:ext cx="428625" cy="428625"/>
          </a:xfrm>
          <a:prstGeom prst="ellipse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357660" y="1260872"/>
            <a:ext cx="4286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</a:t>
            </a:r>
            <a:endParaRPr lang="en-US" sz="1193" dirty="0"/>
          </a:p>
        </p:txBody>
      </p:sp>
      <p:sp>
        <p:nvSpPr>
          <p:cNvPr id="18" name="Text 15"/>
          <p:cNvSpPr/>
          <p:nvPr/>
        </p:nvSpPr>
        <p:spPr>
          <a:xfrm>
            <a:off x="4279162" y="1703784"/>
            <a:ext cx="58559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ПРЕДМЕТЫ</a:t>
            </a:r>
            <a:endParaRPr lang="en-US" sz="683" dirty="0"/>
          </a:p>
        </p:txBody>
      </p:sp>
      <p:sp>
        <p:nvSpPr>
          <p:cNvPr id="19" name="Shape 16"/>
          <p:cNvSpPr/>
          <p:nvPr/>
        </p:nvSpPr>
        <p:spPr>
          <a:xfrm>
            <a:off x="5588757" y="1260872"/>
            <a:ext cx="428625" cy="428625"/>
          </a:xfrm>
          <a:prstGeom prst="ellipse">
            <a:avLst/>
          </a:prstGeom>
          <a:solidFill>
            <a:srgbClr val="4CAF50"/>
          </a:solidFill>
          <a:ln w="18288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588757" y="1260872"/>
            <a:ext cx="4286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</a:t>
            </a:r>
            <a:endParaRPr lang="en-US" sz="1193" dirty="0"/>
          </a:p>
        </p:txBody>
      </p:sp>
      <p:sp>
        <p:nvSpPr>
          <p:cNvPr id="21" name="Text 18"/>
          <p:cNvSpPr/>
          <p:nvPr/>
        </p:nvSpPr>
        <p:spPr>
          <a:xfrm>
            <a:off x="5579297" y="1703784"/>
            <a:ext cx="447517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НАВЫКИ</a:t>
            </a:r>
            <a:endParaRPr lang="en-US" sz="683" dirty="0"/>
          </a:p>
        </p:txBody>
      </p:sp>
      <p:sp>
        <p:nvSpPr>
          <p:cNvPr id="22" name="Shape 19"/>
          <p:cNvSpPr/>
          <p:nvPr/>
        </p:nvSpPr>
        <p:spPr>
          <a:xfrm>
            <a:off x="6819853" y="1260872"/>
            <a:ext cx="428625" cy="428625"/>
          </a:xfrm>
          <a:prstGeom prst="ellipse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819853" y="1260872"/>
            <a:ext cx="4286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</a:t>
            </a:r>
            <a:endParaRPr lang="en-US" sz="1193" dirty="0"/>
          </a:p>
        </p:txBody>
      </p:sp>
      <p:sp>
        <p:nvSpPr>
          <p:cNvPr id="24" name="Text 21"/>
          <p:cNvSpPr/>
          <p:nvPr/>
        </p:nvSpPr>
        <p:spPr>
          <a:xfrm>
            <a:off x="6814049" y="1703784"/>
            <a:ext cx="44020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ФОРМАТ</a:t>
            </a:r>
            <a:endParaRPr lang="en-US" sz="683" dirty="0"/>
          </a:p>
        </p:txBody>
      </p:sp>
      <p:sp>
        <p:nvSpPr>
          <p:cNvPr id="25" name="Shape 22"/>
          <p:cNvSpPr/>
          <p:nvPr/>
        </p:nvSpPr>
        <p:spPr>
          <a:xfrm>
            <a:off x="8050950" y="1260872"/>
            <a:ext cx="428625" cy="428625"/>
          </a:xfrm>
          <a:prstGeom prst="ellipse">
            <a:avLst/>
          </a:prstGeom>
          <a:solidFill>
            <a:srgbClr val="4CAF50"/>
          </a:solidFill>
          <a:ln w="18288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8050950" y="1260872"/>
            <a:ext cx="4286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7</a:t>
            </a:r>
            <a:endParaRPr lang="en-US" sz="1193" dirty="0"/>
          </a:p>
        </p:txBody>
      </p:sp>
      <p:sp>
        <p:nvSpPr>
          <p:cNvPr id="27" name="Text 24"/>
          <p:cNvSpPr/>
          <p:nvPr/>
        </p:nvSpPr>
        <p:spPr>
          <a:xfrm>
            <a:off x="8124341" y="1703784"/>
            <a:ext cx="28184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ЦЕЛЬ</a:t>
            </a:r>
            <a:endParaRPr lang="en-US" sz="683" dirty="0"/>
          </a:p>
        </p:txBody>
      </p:sp>
      <p:sp>
        <p:nvSpPr>
          <p:cNvPr id="28" name="Shape 25"/>
          <p:cNvSpPr/>
          <p:nvPr/>
        </p:nvSpPr>
        <p:spPr>
          <a:xfrm>
            <a:off x="21431" y="2044898"/>
            <a:ext cx="9101138" cy="307717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21431" y="2044898"/>
            <a:ext cx="9101138" cy="21431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450056" y="2187773"/>
            <a:ext cx="8243888" cy="239316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450056" y="2187773"/>
            <a:ext cx="8243888" cy="239316"/>
          </a:xfrm>
          <a:prstGeom prst="rect">
            <a:avLst/>
          </a:prstGeom>
          <a:noFill/>
          <a:ln/>
        </p:spPr>
        <p:txBody>
          <a:bodyPr wrap="none" lIns="102108" tIns="34036" rIns="102108" bIns="34036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2. ТЕХНИЧЕСКИЙ ПУТЬ ЗАПРОСА</a:t>
            </a:r>
            <a:endParaRPr lang="en-US" sz="987" dirty="0"/>
          </a:p>
        </p:txBody>
      </p:sp>
      <p:sp>
        <p:nvSpPr>
          <p:cNvPr id="32" name="Shape 29"/>
          <p:cNvSpPr/>
          <p:nvPr/>
        </p:nvSpPr>
        <p:spPr>
          <a:xfrm>
            <a:off x="450056" y="3113782"/>
            <a:ext cx="1571625" cy="1285875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459" y="3375254"/>
            <a:ext cx="276820" cy="285750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909935" y="3732442"/>
            <a:ext cx="651867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TELEGRAM</a:t>
            </a:r>
            <a:endParaRPr lang="en-US" sz="885" dirty="0"/>
          </a:p>
        </p:txBody>
      </p:sp>
      <p:sp>
        <p:nvSpPr>
          <p:cNvPr id="35" name="Text 31"/>
          <p:cNvSpPr/>
          <p:nvPr/>
        </p:nvSpPr>
        <p:spPr>
          <a:xfrm>
            <a:off x="557213" y="3932467"/>
            <a:ext cx="1357313" cy="205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Ввод данных через интерфейс бота</a:t>
            </a:r>
            <a:endParaRPr lang="en-US" sz="584" dirty="0"/>
          </a:p>
        </p:txBody>
      </p:sp>
      <p:pic>
        <p:nvPicPr>
          <p:cNvPr id="3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94316" y="3670995"/>
            <a:ext cx="107156" cy="171450"/>
          </a:xfrm>
          <a:prstGeom prst="rect">
            <a:avLst/>
          </a:prstGeom>
        </p:spPr>
      </p:pic>
      <p:sp>
        <p:nvSpPr>
          <p:cNvPr id="37" name="Shape 32"/>
          <p:cNvSpPr/>
          <p:nvPr/>
        </p:nvSpPr>
        <p:spPr>
          <a:xfrm>
            <a:off x="2674107" y="3113782"/>
            <a:ext cx="1571625" cy="1285875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7044" y="3375254"/>
            <a:ext cx="285750" cy="285750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3173276" y="3732442"/>
            <a:ext cx="573286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BACKEND</a:t>
            </a:r>
            <a:endParaRPr lang="en-US" sz="885" dirty="0"/>
          </a:p>
        </p:txBody>
      </p:sp>
      <p:sp>
        <p:nvSpPr>
          <p:cNvPr id="40" name="Text 34"/>
          <p:cNvSpPr/>
          <p:nvPr/>
        </p:nvSpPr>
        <p:spPr>
          <a:xfrm>
            <a:off x="2781263" y="3932467"/>
            <a:ext cx="1357313" cy="205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Python/Aiogram обработка промпта</a:t>
            </a:r>
            <a:endParaRPr lang="en-US" sz="584" dirty="0"/>
          </a:p>
        </p:txBody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18366" y="3670995"/>
            <a:ext cx="107156" cy="171450"/>
          </a:xfrm>
          <a:prstGeom prst="rect">
            <a:avLst/>
          </a:prstGeom>
        </p:spPr>
      </p:pic>
      <p:sp>
        <p:nvSpPr>
          <p:cNvPr id="42" name="Shape 35"/>
          <p:cNvSpPr/>
          <p:nvPr/>
        </p:nvSpPr>
        <p:spPr>
          <a:xfrm>
            <a:off x="4898157" y="3113782"/>
            <a:ext cx="1571625" cy="1285875"/>
          </a:xfrm>
          <a:prstGeom prst="rect">
            <a:avLst/>
          </a:prstGeom>
          <a:solidFill>
            <a:srgbClr val="4CAF50"/>
          </a:solidFill>
          <a:ln w="18288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41094" y="3426684"/>
            <a:ext cx="285750" cy="285750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5392862" y="3783871"/>
            <a:ext cx="582216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 ENGINE</a:t>
            </a:r>
            <a:endParaRPr lang="en-US" sz="885" dirty="0"/>
          </a:p>
        </p:txBody>
      </p:sp>
      <p:sp>
        <p:nvSpPr>
          <p:cNvPr id="45" name="Text 37"/>
          <p:cNvSpPr/>
          <p:nvPr/>
        </p:nvSpPr>
        <p:spPr>
          <a:xfrm>
            <a:off x="5071002" y="3983896"/>
            <a:ext cx="1225907" cy="1028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DeepSeek-V3 анализ профиля</a:t>
            </a:r>
            <a:endParaRPr lang="en-US" sz="584" dirty="0"/>
          </a:p>
        </p:txBody>
      </p:sp>
      <p:pic>
        <p:nvPicPr>
          <p:cNvPr id="4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42416" y="3670995"/>
            <a:ext cx="107156" cy="171450"/>
          </a:xfrm>
          <a:prstGeom prst="rect">
            <a:avLst/>
          </a:prstGeom>
        </p:spPr>
      </p:pic>
      <p:sp>
        <p:nvSpPr>
          <p:cNvPr id="47" name="Shape 38"/>
          <p:cNvSpPr/>
          <p:nvPr/>
        </p:nvSpPr>
        <p:spPr>
          <a:xfrm>
            <a:off x="7122207" y="3113782"/>
            <a:ext cx="1571625" cy="1285875"/>
          </a:xfrm>
          <a:prstGeom prst="rect">
            <a:avLst/>
          </a:prstGeom>
          <a:solidFill>
            <a:srgbClr val="1A1A1A"/>
          </a:solidFill>
          <a:ln w="18288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47285" y="3426684"/>
            <a:ext cx="321469" cy="285750"/>
          </a:xfrm>
          <a:prstGeom prst="rect">
            <a:avLst/>
          </a:prstGeom>
        </p:spPr>
      </p:pic>
      <p:sp>
        <p:nvSpPr>
          <p:cNvPr id="49" name="Text 39"/>
          <p:cNvSpPr/>
          <p:nvPr/>
        </p:nvSpPr>
        <p:spPr>
          <a:xfrm>
            <a:off x="7544302" y="3783871"/>
            <a:ext cx="727407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РЕЗУЛЬТАТ</a:t>
            </a:r>
            <a:endParaRPr lang="en-US" sz="885" dirty="0"/>
          </a:p>
        </p:txBody>
      </p:sp>
      <p:sp>
        <p:nvSpPr>
          <p:cNvPr id="50" name="Text 40"/>
          <p:cNvSpPr/>
          <p:nvPr/>
        </p:nvSpPr>
        <p:spPr>
          <a:xfrm>
            <a:off x="7302252" y="3983896"/>
            <a:ext cx="1211535" cy="1028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Трек и вакансии с HeadHunter</a:t>
            </a:r>
            <a:endParaRPr lang="en-US" sz="58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1431" y="21431"/>
            <a:ext cx="9101138" cy="10001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50056" y="307181"/>
            <a:ext cx="8243888" cy="4375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ИНТЕЛЛЕКТУАЛЬНЫЙ АНАЛИЗ ПРОФИЛЯ</a:t>
            </a:r>
            <a:endParaRPr lang="en-US" sz="2436" dirty="0"/>
          </a:p>
        </p:txBody>
      </p:sp>
      <p:sp>
        <p:nvSpPr>
          <p:cNvPr id="5" name="Shape 2"/>
          <p:cNvSpPr/>
          <p:nvPr/>
        </p:nvSpPr>
        <p:spPr>
          <a:xfrm>
            <a:off x="307181" y="1164431"/>
            <a:ext cx="4179094" cy="1345871"/>
          </a:xfrm>
          <a:prstGeom prst="rect">
            <a:avLst/>
          </a:prstGeom>
          <a:solidFill>
            <a:srgbClr val="FF5722"/>
          </a:solidFill>
          <a:ln w="9144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494" y="1335881"/>
            <a:ext cx="257175" cy="2571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1494" y="1707356"/>
            <a:ext cx="3750469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ТОП-3 НАПРАВЛЕНИЯ</a:t>
            </a:r>
            <a:endParaRPr lang="en-US" sz="1295" dirty="0"/>
          </a:p>
        </p:txBody>
      </p:sp>
      <p:sp>
        <p:nvSpPr>
          <p:cNvPr id="8" name="Text 4"/>
          <p:cNvSpPr/>
          <p:nvPr/>
        </p:nvSpPr>
        <p:spPr>
          <a:xfrm>
            <a:off x="521494" y="2000250"/>
            <a:ext cx="3750469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Подбор трех наиболее подходящих профессий на основе интересов, образования и навыков пользователя.</a:t>
            </a:r>
            <a:endParaRPr lang="en-US" sz="885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2753" y="1346597"/>
            <a:ext cx="289322" cy="25717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882753" y="1718072"/>
            <a:ext cx="3729038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СИЛЬНЫЕ СТОРОНЫ</a:t>
            </a:r>
            <a:endParaRPr lang="en-US" sz="1295" dirty="0"/>
          </a:p>
        </p:txBody>
      </p:sp>
      <p:sp>
        <p:nvSpPr>
          <p:cNvPr id="11" name="Text 6"/>
          <p:cNvSpPr/>
          <p:nvPr/>
        </p:nvSpPr>
        <p:spPr>
          <a:xfrm>
            <a:off x="4882753" y="2010966"/>
            <a:ext cx="3729038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Выявление ключевых компетенций и талантов, которые помогут пользователю выделиться на рынке труда.</a:t>
            </a:r>
            <a:endParaRPr lang="en-US" sz="885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2209" y="2778193"/>
            <a:ext cx="257175" cy="25717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32209" y="3149668"/>
            <a:ext cx="3729038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SKILL GAP ANALYSIS</a:t>
            </a:r>
            <a:endParaRPr lang="en-US" sz="1295" dirty="0"/>
          </a:p>
        </p:txBody>
      </p:sp>
      <p:sp>
        <p:nvSpPr>
          <p:cNvPr id="14" name="Text 8"/>
          <p:cNvSpPr/>
          <p:nvPr/>
        </p:nvSpPr>
        <p:spPr>
          <a:xfrm>
            <a:off x="532209" y="3442562"/>
            <a:ext cx="3729038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Четкий список навыков, которые необходимо развить для достижения поставленных карьерных целей.</a:t>
            </a:r>
            <a:endParaRPr lang="en-US" sz="885" dirty="0"/>
          </a:p>
        </p:txBody>
      </p:sp>
      <p:sp>
        <p:nvSpPr>
          <p:cNvPr id="15" name="Shape 9"/>
          <p:cNvSpPr/>
          <p:nvPr/>
        </p:nvSpPr>
        <p:spPr>
          <a:xfrm>
            <a:off x="4657725" y="2596028"/>
            <a:ext cx="4179094" cy="1345871"/>
          </a:xfrm>
          <a:prstGeom prst="rect">
            <a:avLst/>
          </a:prstGeom>
          <a:solidFill>
            <a:srgbClr val="4CAF50"/>
          </a:solidFill>
          <a:ln w="9144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2038" y="2767478"/>
            <a:ext cx="257175" cy="25717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872038" y="3138953"/>
            <a:ext cx="3750469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9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ДОРОЖНАЯ КАРТА</a:t>
            </a:r>
            <a:endParaRPr lang="en-US" sz="1295" dirty="0"/>
          </a:p>
        </p:txBody>
      </p:sp>
      <p:sp>
        <p:nvSpPr>
          <p:cNvPr id="18" name="Text 11"/>
          <p:cNvSpPr/>
          <p:nvPr/>
        </p:nvSpPr>
        <p:spPr>
          <a:xfrm>
            <a:off x="4872038" y="3431846"/>
            <a:ext cx="3750469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Конкретные первые шаги (обучение, стажировки, проекты), которые можно реализовать уже сегодня.</a:t>
            </a:r>
            <a:endParaRPr lang="en-US" sz="885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0056" y="4216933"/>
            <a:ext cx="128588" cy="12858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50081" y="4199074"/>
            <a:ext cx="4927597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Анализ выполняется моделью DeepSeek-V3 с учетом специфики рынка СНГ.</a:t>
            </a:r>
            <a:endParaRPr lang="en-US" sz="88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4288" y="14288"/>
            <a:ext cx="3190382" cy="511492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873658" y="1621632"/>
            <a:ext cx="1471613" cy="900113"/>
          </a:xfrm>
          <a:prstGeom prst="rect">
            <a:avLst/>
          </a:prstGeom>
          <a:solidFill>
            <a:srgbClr val="FF5722"/>
          </a:solidFill>
          <a:ln w="18288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873658" y="1621632"/>
            <a:ext cx="1471613" cy="9001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hh</a:t>
            </a:r>
            <a:endParaRPr lang="en-US" sz="3294" dirty="0"/>
          </a:p>
        </p:txBody>
      </p:sp>
      <p:sp>
        <p:nvSpPr>
          <p:cNvPr id="6" name="Text 3"/>
          <p:cNvSpPr/>
          <p:nvPr/>
        </p:nvSpPr>
        <p:spPr>
          <a:xfrm>
            <a:off x="14288" y="2641505"/>
            <a:ext cx="3190382" cy="435769"/>
          </a:xfrm>
          <a:prstGeom prst="rect">
            <a:avLst/>
          </a:prstGeom>
          <a:noFill/>
          <a:ln/>
        </p:spPr>
        <p:txBody>
          <a:bodyPr wrap="square" lIns="136017" tIns="0" rIns="136017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Интеграция с крупнейшим сервисом поиска работы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3490420" y="620195"/>
            <a:ext cx="5353515" cy="4243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75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РАБОТА С РЫНКОМ ТРУДА</a:t>
            </a:r>
            <a:endParaRPr lang="en-US" sz="2755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0420" y="1237404"/>
            <a:ext cx="200025" cy="20002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919045" y="1187397"/>
            <a:ext cx="4924890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РЕАЛЬНЫЕ ВАКАНСИИ</a:t>
            </a:r>
            <a:endParaRPr lang="en-US" sz="1397" dirty="0"/>
          </a:p>
        </p:txBody>
      </p:sp>
      <p:sp>
        <p:nvSpPr>
          <p:cNvPr id="10" name="Text 6"/>
          <p:cNvSpPr/>
          <p:nvPr/>
        </p:nvSpPr>
        <p:spPr>
          <a:xfrm>
            <a:off x="3919045" y="1485649"/>
            <a:ext cx="492489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Бот не просто дает советы, он ищет работу прямо сейчас через официальный API HeadHunter.</a:t>
            </a:r>
            <a:endParaRPr lang="en-US" sz="987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0420" y="1992855"/>
            <a:ext cx="200025" cy="20002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919045" y="1942849"/>
            <a:ext cx="4924890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УМНЫЕ ФИЛЬТРЫ</a:t>
            </a:r>
            <a:endParaRPr lang="en-US" sz="1397" dirty="0"/>
          </a:p>
        </p:txBody>
      </p:sp>
      <p:sp>
        <p:nvSpPr>
          <p:cNvPr id="13" name="Text 8"/>
          <p:cNvSpPr/>
          <p:nvPr/>
        </p:nvSpPr>
        <p:spPr>
          <a:xfrm>
            <a:off x="3919045" y="2241100"/>
            <a:ext cx="492489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Автоматический подбор по ключевым словам, интересам и навыкам, выявленным AI.</a:t>
            </a:r>
            <a:endParaRPr lang="en-US" sz="987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90420" y="2748307"/>
            <a:ext cx="200025" cy="20002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919045" y="2698300"/>
            <a:ext cx="4924890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АКТУАЛЬНОСТЬ 100%</a:t>
            </a:r>
            <a:endParaRPr lang="en-US" sz="1397" dirty="0"/>
          </a:p>
        </p:txBody>
      </p:sp>
      <p:sp>
        <p:nvSpPr>
          <p:cNvPr id="16" name="Text 10"/>
          <p:cNvSpPr/>
          <p:nvPr/>
        </p:nvSpPr>
        <p:spPr>
          <a:xfrm>
            <a:off x="3919045" y="2996552"/>
            <a:ext cx="492489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Выдача только свежих предложений с сортировкой по времени публикации.</a:t>
            </a:r>
            <a:endParaRPr lang="en-US" sz="987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90420" y="3503758"/>
            <a:ext cx="200025" cy="20002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3919045" y="3453752"/>
            <a:ext cx="4924890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ПРЯМОЙ ОТКЛИК</a:t>
            </a:r>
            <a:endParaRPr lang="en-US" sz="1397" dirty="0"/>
          </a:p>
        </p:txBody>
      </p:sp>
      <p:sp>
        <p:nvSpPr>
          <p:cNvPr id="19" name="Text 12"/>
          <p:cNvSpPr/>
          <p:nvPr/>
        </p:nvSpPr>
        <p:spPr>
          <a:xfrm>
            <a:off x="3919045" y="3752004"/>
            <a:ext cx="492489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Каждая вакансия сопровождается прямой ссылкой для быстрого перехода и отклика.</a:t>
            </a:r>
            <a:endParaRPr lang="en-US" sz="987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" y="57150"/>
            <a:ext cx="90297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8581" y="78581"/>
            <a:ext cx="9101138" cy="942975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78581" y="1000125"/>
            <a:ext cx="9101138" cy="21431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07206" y="364331"/>
            <a:ext cx="8672513" cy="4375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ПРЕИМУЩЕСТВА ДЛЯ МОЛОДЕЖИ (16-22)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1313250" y="1178719"/>
            <a:ext cx="542925" cy="542925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3446" y="1314450"/>
            <a:ext cx="262533" cy="27146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37217" y="1835944"/>
            <a:ext cx="1894963" cy="220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97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ЗНАКОМАЯ СРЕДА</a:t>
            </a:r>
            <a:endParaRPr lang="en-US" sz="1397" dirty="0"/>
          </a:p>
        </p:txBody>
      </p:sp>
      <p:sp>
        <p:nvSpPr>
          <p:cNvPr id="9" name="Text 5"/>
          <p:cNvSpPr/>
          <p:nvPr/>
        </p:nvSpPr>
        <p:spPr>
          <a:xfrm>
            <a:off x="278606" y="2127386"/>
            <a:ext cx="2612213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Не нужно скачивать новые приложения или регистрироваться — весь путь в привычном мессенджере.</a:t>
            </a:r>
            <a:endParaRPr lang="en-US" sz="885" dirty="0"/>
          </a:p>
        </p:txBody>
      </p:sp>
      <p:sp>
        <p:nvSpPr>
          <p:cNvPr id="10" name="Shape 6"/>
          <p:cNvSpPr/>
          <p:nvPr/>
        </p:nvSpPr>
        <p:spPr>
          <a:xfrm>
            <a:off x="3112275" y="1021556"/>
            <a:ext cx="3033722" cy="3643313"/>
          </a:xfrm>
          <a:prstGeom prst="rect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6124566" y="1021556"/>
            <a:ext cx="21431" cy="3643313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4357660" y="1178719"/>
            <a:ext cx="542925" cy="542925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9458" y="1314450"/>
            <a:ext cx="339328" cy="27146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705123" y="1835944"/>
            <a:ext cx="1847999" cy="220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97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ЯЗЫК МОЛОДЕЖИ</a:t>
            </a:r>
            <a:endParaRPr lang="en-US" sz="1397" dirty="0"/>
          </a:p>
        </p:txBody>
      </p:sp>
      <p:sp>
        <p:nvSpPr>
          <p:cNvPr id="15" name="Text 10"/>
          <p:cNvSpPr/>
          <p:nvPr/>
        </p:nvSpPr>
        <p:spPr>
          <a:xfrm>
            <a:off x="3312300" y="2127386"/>
            <a:ext cx="2633672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Бот общается просто и без лишней бюрократии — интуитивный интерфейс с кнопками.</a:t>
            </a:r>
            <a:endParaRPr lang="en-US" sz="885" dirty="0"/>
          </a:p>
        </p:txBody>
      </p:sp>
      <p:sp>
        <p:nvSpPr>
          <p:cNvPr id="16" name="Shape 11"/>
          <p:cNvSpPr/>
          <p:nvPr/>
        </p:nvSpPr>
        <p:spPr>
          <a:xfrm>
            <a:off x="7391381" y="1178719"/>
            <a:ext cx="542925" cy="542925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7113" y="1314450"/>
            <a:ext cx="271463" cy="27146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65903" y="1835944"/>
            <a:ext cx="2393854" cy="220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97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БЕСПЛАТНО И БЫСТРО</a:t>
            </a:r>
            <a:endParaRPr lang="en-US" sz="1397" dirty="0"/>
          </a:p>
        </p:txBody>
      </p:sp>
      <p:sp>
        <p:nvSpPr>
          <p:cNvPr id="19" name="Text 13"/>
          <p:cNvSpPr/>
          <p:nvPr/>
        </p:nvSpPr>
        <p:spPr>
          <a:xfrm>
            <a:off x="6346022" y="2127386"/>
            <a:ext cx="2633644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Экспертная аналитика уровня консультанта за 0 ₽ и менее 2 минут.</a:t>
            </a:r>
            <a:endParaRPr lang="en-US" sz="885" dirty="0"/>
          </a:p>
        </p:txBody>
      </p:sp>
      <p:sp>
        <p:nvSpPr>
          <p:cNvPr id="20" name="Shape 14"/>
          <p:cNvSpPr/>
          <p:nvPr/>
        </p:nvSpPr>
        <p:spPr>
          <a:xfrm>
            <a:off x="78581" y="4664869"/>
            <a:ext cx="9101138" cy="51435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206" y="4843463"/>
            <a:ext cx="157163" cy="157163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71525" y="4821138"/>
            <a:ext cx="4751347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Мы говорим на одном языке с будущими профессионалами.</a:t>
            </a:r>
            <a:endParaRPr lang="en-US" sz="109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1431" y="21431"/>
            <a:ext cx="4095490" cy="5100638"/>
          </a:xfrm>
          <a:prstGeom prst="rect">
            <a:avLst/>
          </a:prstGeom>
          <a:solidFill>
            <a:srgbClr val="FF57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4095490" y="21431"/>
            <a:ext cx="21431" cy="510063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6207" y="1655564"/>
            <a:ext cx="1785938" cy="142875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229311" y="3155752"/>
            <a:ext cx="1679730" cy="332184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1229311" y="3155752"/>
            <a:ext cx="1679730" cy="332184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Команда проекта</a:t>
            </a:r>
            <a:endParaRPr lang="en-US" sz="1193" dirty="0"/>
          </a:p>
        </p:txBody>
      </p:sp>
      <p:sp>
        <p:nvSpPr>
          <p:cNvPr id="8" name="Text 4"/>
          <p:cNvSpPr/>
          <p:nvPr/>
        </p:nvSpPr>
        <p:spPr>
          <a:xfrm>
            <a:off x="4545546" y="770213"/>
            <a:ext cx="4148370" cy="4243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755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КОМАНДА И ВКЛАД</a:t>
            </a:r>
            <a:endParaRPr lang="en-US" sz="2755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5546" y="1376707"/>
            <a:ext cx="285750" cy="228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045608" y="1337416"/>
            <a:ext cx="3648308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РАЗРАБОТКА</a:t>
            </a:r>
            <a:endParaRPr lang="en-US" sz="1397" dirty="0"/>
          </a:p>
        </p:txBody>
      </p:sp>
      <p:sp>
        <p:nvSpPr>
          <p:cNvPr id="11" name="Text 6"/>
          <p:cNvSpPr/>
          <p:nvPr/>
        </p:nvSpPr>
        <p:spPr>
          <a:xfrm>
            <a:off x="5045608" y="1649955"/>
            <a:ext cx="3648308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Реализован полный цикл: от обработки состояний (FSM) до интеграции внешних API (Telegram, OpenRouter, HeadHunter).</a:t>
            </a:r>
            <a:endParaRPr lang="en-US" sz="987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45546" y="2417908"/>
            <a:ext cx="285750" cy="2286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045608" y="2378618"/>
            <a:ext cx="3648308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ПРОДУКТ</a:t>
            </a:r>
            <a:endParaRPr lang="en-US" sz="1397" dirty="0"/>
          </a:p>
        </p:txBody>
      </p:sp>
      <p:sp>
        <p:nvSpPr>
          <p:cNvPr id="14" name="Text 8"/>
          <p:cNvSpPr/>
          <p:nvPr/>
        </p:nvSpPr>
        <p:spPr>
          <a:xfrm>
            <a:off x="5045608" y="2691157"/>
            <a:ext cx="3648308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Создана работающая MVP-модель, готовая к немедленному тестированию и масштабированию на реальных пользователях.</a:t>
            </a:r>
            <a:endParaRPr lang="en-US" sz="987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45546" y="3459110"/>
            <a:ext cx="257175" cy="2286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045608" y="3419819"/>
            <a:ext cx="3648308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ВИЗИЯ</a:t>
            </a:r>
            <a:endParaRPr lang="en-US" sz="1397" dirty="0"/>
          </a:p>
        </p:txBody>
      </p:sp>
      <p:sp>
        <p:nvSpPr>
          <p:cNvPr id="17" name="Text 10"/>
          <p:cNvSpPr/>
          <p:nvPr/>
        </p:nvSpPr>
        <p:spPr>
          <a:xfrm>
            <a:off x="5045608" y="3732358"/>
            <a:ext cx="3648308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3333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Мы строим технологический мост между академическим образованием и требованиями реального рынка труда.</a:t>
            </a:r>
            <a:endParaRPr lang="en-US" sz="987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1431" y="21431"/>
            <a:ext cx="4550569" cy="5100638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4550569" y="21431"/>
            <a:ext cx="21431" cy="510063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50056" y="1042122"/>
            <a:ext cx="3693319" cy="1508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НАЧНИ СВОЙ ПУТЬ СЕГОДНЯ!</a:t>
            </a:r>
            <a:endParaRPr lang="en-US" sz="3294" dirty="0"/>
          </a:p>
        </p:txBody>
      </p:sp>
      <p:sp>
        <p:nvSpPr>
          <p:cNvPr id="6" name="Shape 3"/>
          <p:cNvSpPr/>
          <p:nvPr/>
        </p:nvSpPr>
        <p:spPr>
          <a:xfrm>
            <a:off x="450056" y="2836599"/>
            <a:ext cx="3693319" cy="541139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50056" y="2836599"/>
            <a:ext cx="3693319" cy="541139"/>
          </a:xfrm>
          <a:prstGeom prst="rect">
            <a:avLst/>
          </a:prstGeom>
          <a:noFill/>
          <a:ln/>
        </p:spPr>
        <p:txBody>
          <a:bodyPr wrap="square" lIns="255143" tIns="170053" rIns="255143" bIns="170053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Попробуй бота прямо сейчас</a:t>
            </a:r>
            <a:endParaRPr lang="en-US" sz="1397" dirty="0"/>
          </a:p>
        </p:txBody>
      </p:sp>
      <p:sp>
        <p:nvSpPr>
          <p:cNvPr id="8" name="Text 5"/>
          <p:cNvSpPr/>
          <p:nvPr/>
        </p:nvSpPr>
        <p:spPr>
          <a:xfrm>
            <a:off x="450056" y="3806363"/>
            <a:ext cx="3693319" cy="817959"/>
          </a:xfrm>
          <a:prstGeom prst="rect">
            <a:avLst/>
          </a:prstGeom>
          <a:noFill/>
          <a:ln/>
        </p:spPr>
        <p:txBody>
          <a:bodyPr wrap="square" lIns="0" tIns="255143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 — твой компас в мире профессий!</a:t>
            </a:r>
            <a:endParaRPr lang="en-US" sz="1602" dirty="0"/>
          </a:p>
        </p:txBody>
      </p:sp>
      <p:pic>
        <p:nvPicPr>
          <p:cNvPr id="17" name="Image 1" descr="preencoded.png">
            <a:extLst>
              <a:ext uri="{FF2B5EF4-FFF2-40B4-BE49-F238E27FC236}">
                <a16:creationId xmlns:a16="http://schemas.microsoft.com/office/drawing/2014/main" id="{F3CDCDD2-B734-3DE4-B994-F890D0F92F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3836" y="1157479"/>
            <a:ext cx="221456" cy="228600"/>
          </a:xfrm>
          <a:prstGeom prst="rect">
            <a:avLst/>
          </a:prstGeom>
        </p:spPr>
      </p:pic>
      <p:sp>
        <p:nvSpPr>
          <p:cNvPr id="18" name="Text 6">
            <a:extLst>
              <a:ext uri="{FF2B5EF4-FFF2-40B4-BE49-F238E27FC236}">
                <a16:creationId xmlns:a16="http://schemas.microsoft.com/office/drawing/2014/main" id="{31F93CFC-EC01-BC27-6125-831495AE3921}"/>
              </a:ext>
            </a:extLst>
          </p:cNvPr>
          <p:cNvSpPr/>
          <p:nvPr/>
        </p:nvSpPr>
        <p:spPr>
          <a:xfrm>
            <a:off x="5402461" y="1169088"/>
            <a:ext cx="2428550" cy="194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1193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github.com/Healthy06/</a:t>
            </a:r>
            <a:r>
              <a:rPr lang="en-US" sz="1193" b="1" dirty="0" err="1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MyCareerStart</a:t>
            </a:r>
            <a:endParaRPr lang="en-US" sz="1193" dirty="0"/>
          </a:p>
        </p:txBody>
      </p:sp>
      <p:pic>
        <p:nvPicPr>
          <p:cNvPr id="19" name="Image 2" descr="preencoded.png">
            <a:extLst>
              <a:ext uri="{FF2B5EF4-FFF2-40B4-BE49-F238E27FC236}">
                <a16:creationId xmlns:a16="http://schemas.microsoft.com/office/drawing/2014/main" id="{AF00EF6C-F524-0E31-AAC7-10EBCC98A4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3836" y="1662900"/>
            <a:ext cx="221456" cy="228600"/>
          </a:xfrm>
          <a:prstGeom prst="rect">
            <a:avLst/>
          </a:prstGeom>
        </p:spPr>
      </p:pic>
      <p:sp>
        <p:nvSpPr>
          <p:cNvPr id="20" name="Text 7">
            <a:extLst>
              <a:ext uri="{FF2B5EF4-FFF2-40B4-BE49-F238E27FC236}">
                <a16:creationId xmlns:a16="http://schemas.microsoft.com/office/drawing/2014/main" id="{97997A11-D586-976F-A47B-CF898729F2CA}"/>
              </a:ext>
            </a:extLst>
          </p:cNvPr>
          <p:cNvSpPr/>
          <p:nvPr/>
        </p:nvSpPr>
        <p:spPr>
          <a:xfrm>
            <a:off x="5402461" y="1674508"/>
            <a:ext cx="1107676" cy="194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1193" b="1" dirty="0">
                <a:solidFill>
                  <a:srgbClr val="1A1A1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@hakaton26_bot</a:t>
            </a:r>
            <a:endParaRPr lang="en-US" sz="1193" dirty="0"/>
          </a:p>
        </p:txBody>
      </p:sp>
      <p:pic>
        <p:nvPicPr>
          <p:cNvPr id="21" name="Изображение 16">
            <a:extLst>
              <a:ext uri="{FF2B5EF4-FFF2-40B4-BE49-F238E27FC236}">
                <a16:creationId xmlns:a16="http://schemas.microsoft.com/office/drawing/2014/main" id="{090BEC34-8E08-AB6F-4791-B74EFD5EE9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9827" y="2202636"/>
            <a:ext cx="1748790" cy="198945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544</Words>
  <Application>Microsoft Office PowerPoint</Application>
  <PresentationFormat>On-screen Show (16:9)</PresentationFormat>
  <Paragraphs>99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Space Grotesk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Kai Flynn</cp:lastModifiedBy>
  <cp:revision>4</cp:revision>
  <dcterms:created xsi:type="dcterms:W3CDTF">2026-04-05T03:19:18Z</dcterms:created>
  <dcterms:modified xsi:type="dcterms:W3CDTF">2026-04-05T04:33:26Z</dcterms:modified>
</cp:coreProperties>
</file>