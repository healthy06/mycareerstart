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47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922169" y="0"/>
            <a:ext cx="21431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547431"/>
            <a:ext cx="5086350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КАРЬЕРНЫЙ
ТРЕК AI</a:t>
            </a:r>
            <a:endParaRPr lang="en-US" sz="4353" dirty="0"/>
          </a:p>
        </p:txBody>
      </p:sp>
      <p:sp>
        <p:nvSpPr>
          <p:cNvPr id="6" name="Shape 3"/>
          <p:cNvSpPr/>
          <p:nvPr/>
        </p:nvSpPr>
        <p:spPr>
          <a:xfrm>
            <a:off x="428625" y="3081886"/>
            <a:ext cx="5086350" cy="46255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3081886"/>
            <a:ext cx="5086350" cy="46255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Твой умный старт в профессию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428625" y="3687319"/>
            <a:ext cx="5086350" cy="31075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Хакатон: КАРЬЕРНЫЙ ТРЕК AI • 2026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 rot="900000">
            <a:off x="6472238" y="1500188"/>
            <a:ext cx="2143125" cy="2143125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073" y="2035969"/>
            <a:ext cx="1339453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1000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35769" y="577500"/>
            <a:ext cx="827246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ПРОБЛЕМА: ПОТЕРЯННОЕ ПОКОЛЕНИЕ</a:t>
            </a:r>
            <a:endParaRPr lang="en-US" sz="243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09" y="1262658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3609" y="1682353"/>
            <a:ext cx="39719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ОТСУТСТВИЕ ОРИЕНТАЦИИ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303609" y="2009180"/>
            <a:ext cx="39719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70% молодых людей не знают, какую профессию выбрать после учебы. Они тратят годы на обучение специальностям, которые им не интересны.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572000" y="1007269"/>
            <a:ext cx="4564856" cy="1807369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251942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7750" y="1671638"/>
            <a:ext cx="39933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СЛОЖНОСТИ ТРУДОУСТРОЙСТВА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4857750" y="1998464"/>
            <a:ext cx="39933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Трудно найти подработку, которая реально развивает нужные навыки. Рынок переполнен вакансиями, не подходящими для студентов.</a:t>
            </a:r>
            <a:endParaRPr lang="en-US" sz="885" dirty="0"/>
          </a:p>
        </p:txBody>
      </p:sp>
      <p:sp>
        <p:nvSpPr>
          <p:cNvPr id="12" name="Shape 7"/>
          <p:cNvSpPr/>
          <p:nvPr/>
        </p:nvSpPr>
        <p:spPr>
          <a:xfrm>
            <a:off x="7144" y="2814638"/>
            <a:ext cx="4564856" cy="1807369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94" y="3059311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92894" y="3479006"/>
            <a:ext cx="39933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НЕЯСНОСТЬ ПУТИ</a:t>
            </a:r>
            <a:endParaRPr lang="en-US" sz="1397" dirty="0"/>
          </a:p>
        </p:txBody>
      </p:sp>
      <p:sp>
        <p:nvSpPr>
          <p:cNvPr id="15" name="Text 9"/>
          <p:cNvSpPr/>
          <p:nvPr/>
        </p:nvSpPr>
        <p:spPr>
          <a:xfrm>
            <a:off x="292894" y="3805833"/>
            <a:ext cx="39933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Нет понимания, какие шаги предпринять сегодня для достижения цели через 5 лет. Карьерный путь кажется туманным и пугающим.</a:t>
            </a:r>
            <a:endParaRPr lang="en-US" sz="885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8466" y="3070027"/>
            <a:ext cx="285750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68466" y="3489722"/>
            <a:ext cx="39719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ПОТЕРЯ ПОТЕНЦИАЛА</a:t>
            </a:r>
            <a:endParaRPr lang="en-US" sz="1397" dirty="0"/>
          </a:p>
        </p:txBody>
      </p:sp>
      <p:sp>
        <p:nvSpPr>
          <p:cNvPr id="18" name="Text 11"/>
          <p:cNvSpPr/>
          <p:nvPr/>
        </p:nvSpPr>
        <p:spPr>
          <a:xfrm>
            <a:off x="4868466" y="3816548"/>
            <a:ext cx="39719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Результат: Потеря потенциала и времени на старте профессионального пути. Молодежь теряет мотивацию еще до начала реальной карьеры.</a:t>
            </a:r>
            <a:endParaRPr lang="en-US" sz="885" dirty="0"/>
          </a:p>
        </p:txBody>
      </p:sp>
      <p:sp>
        <p:nvSpPr>
          <p:cNvPr id="19" name="Shape 12"/>
          <p:cNvSpPr/>
          <p:nvPr/>
        </p:nvSpPr>
        <p:spPr>
          <a:xfrm>
            <a:off x="7144" y="4622006"/>
            <a:ext cx="9129713" cy="51435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7144" y="4622006"/>
            <a:ext cx="9129713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69" y="4800600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0088" y="4778276"/>
            <a:ext cx="472411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превращаем неопределенность в четкий план развития.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" y="78581"/>
            <a:ext cx="3640438" cy="510063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697588" y="7858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146" y="1880592"/>
            <a:ext cx="1107281" cy="1143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1930" y="3109317"/>
            <a:ext cx="2113741" cy="26789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41930" y="3109317"/>
            <a:ext cx="2113741" cy="267891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Ваш карьерный навигатор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4004770" y="827363"/>
            <a:ext cx="4889171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РЕШЕНИЕ: AI-НАВИГАТОР В КАРМАНЕ</a:t>
            </a:r>
            <a:endParaRPr lang="en-US" sz="275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770" y="1854612"/>
            <a:ext cx="150019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47670" y="1804606"/>
            <a:ext cx="200881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ДОСТУПНОСТЬ 24/7</a:t>
            </a:r>
            <a:endParaRPr lang="en-US" sz="1295" dirty="0"/>
          </a:p>
        </p:txBody>
      </p:sp>
      <p:sp>
        <p:nvSpPr>
          <p:cNvPr id="11" name="Text 6"/>
          <p:cNvSpPr/>
          <p:nvPr/>
        </p:nvSpPr>
        <p:spPr>
          <a:xfrm>
            <a:off x="4347670" y="2068925"/>
            <a:ext cx="2008817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Telegram-бот, который всегда под рукой. Никаких сложных приложений — просто начни диалог.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4770" y="2848710"/>
            <a:ext cx="200025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47670" y="2798704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КОМПЛЕКСНЫЙ ПОДХОД</a:t>
            </a:r>
            <a:endParaRPr lang="en-US" sz="1295" dirty="0"/>
          </a:p>
        </p:txBody>
      </p:sp>
      <p:sp>
        <p:nvSpPr>
          <p:cNvPr id="14" name="Text 8"/>
          <p:cNvSpPr/>
          <p:nvPr/>
        </p:nvSpPr>
        <p:spPr>
          <a:xfrm>
            <a:off x="4347670" y="3298766"/>
            <a:ext cx="2008817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От глубокой диагностики личности до выдачи списка актуальных вакансий в одном интерфейсе.</a:t>
            </a:r>
            <a:endParaRPr lang="en-US" sz="885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224" y="1854612"/>
            <a:ext cx="250031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85124" y="1804606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ГЛУБОКАЯ ПЕРСОНАЛИЗАЦИЯ</a:t>
            </a:r>
            <a:endParaRPr lang="en-US" sz="1295" dirty="0"/>
          </a:p>
        </p:txBody>
      </p:sp>
      <p:sp>
        <p:nvSpPr>
          <p:cNvPr id="17" name="Text 10"/>
          <p:cNvSpPr/>
          <p:nvPr/>
        </p:nvSpPr>
        <p:spPr>
          <a:xfrm>
            <a:off x="6885124" y="2304669"/>
            <a:ext cx="200881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Каждый совет адаптирован под возраст, интересы и текущие навыки пользователя.</a:t>
            </a:r>
            <a:endParaRPr lang="en-US" sz="885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224" y="2919868"/>
            <a:ext cx="200025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85124" y="2869862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МГНОВЕННЫЙ РЕЗУЛЬТАТ</a:t>
            </a:r>
            <a:endParaRPr lang="en-US" sz="1295" dirty="0"/>
          </a:p>
        </p:txBody>
      </p:sp>
      <p:sp>
        <p:nvSpPr>
          <p:cNvPr id="20" name="Text 12"/>
          <p:cNvSpPr/>
          <p:nvPr/>
        </p:nvSpPr>
        <p:spPr>
          <a:xfrm>
            <a:off x="6885124" y="3369925"/>
            <a:ext cx="200881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Получение полного карьерного разбора занимает менее 2 минут благодаря AI.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8572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307181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АРХИТЕКТУРА: ПУТЬ ЗАПРОСА</a:t>
            </a:r>
            <a:endParaRPr lang="en-US" sz="243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84" y="2021681"/>
            <a:ext cx="416123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0620" y="2521744"/>
            <a:ext cx="1212652" cy="20181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 API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441127" y="2780705"/>
            <a:ext cx="1671638" cy="260021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Пользователь вводит данные через удобный интерфейс бота.</a:t>
            </a:r>
            <a:endParaRPr lang="en-US" sz="68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709" y="2700338"/>
            <a:ext cx="257175" cy="25717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616398" y="1828800"/>
            <a:ext cx="1714500" cy="200025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9336" y="2000250"/>
            <a:ext cx="428625" cy="428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72655" y="2500313"/>
            <a:ext cx="1601986" cy="20181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(PYTHON)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2616398" y="2759273"/>
            <a:ext cx="1714500" cy="390032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Aiogram обрабатывает состояния (FSM) и формирует промпт.</a:t>
            </a:r>
            <a:endParaRPr lang="en-US" sz="683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413" y="2700338"/>
            <a:ext cx="257175" cy="25717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813102" y="1828800"/>
            <a:ext cx="1714500" cy="2000250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6039" y="2000250"/>
            <a:ext cx="428625" cy="4286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43513" y="2500313"/>
            <a:ext cx="853678" cy="20181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ENGINE</a:t>
            </a:r>
            <a:endParaRPr lang="en-US" sz="1090" dirty="0"/>
          </a:p>
        </p:txBody>
      </p:sp>
      <p:sp>
        <p:nvSpPr>
          <p:cNvPr id="17" name="Text 9"/>
          <p:cNvSpPr/>
          <p:nvPr/>
        </p:nvSpPr>
        <p:spPr>
          <a:xfrm>
            <a:off x="4813102" y="2759273"/>
            <a:ext cx="1714500" cy="260021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OpenRouter направляет запрос в DeepSeek-V3 для анализа.</a:t>
            </a:r>
            <a:endParaRPr lang="en-US" sz="683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116" y="2700338"/>
            <a:ext cx="257175" cy="257175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7009805" y="1828800"/>
            <a:ext cx="1714500" cy="2000250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2742" y="2000250"/>
            <a:ext cx="428625" cy="4286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351086" y="2500313"/>
            <a:ext cx="1031909" cy="20181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РЕЗУЛЬТАТ</a:t>
            </a:r>
            <a:endParaRPr lang="en-US" sz="1090" dirty="0"/>
          </a:p>
        </p:txBody>
      </p:sp>
      <p:sp>
        <p:nvSpPr>
          <p:cNvPr id="22" name="Text 12"/>
          <p:cNvSpPr/>
          <p:nvPr/>
        </p:nvSpPr>
        <p:spPr>
          <a:xfrm>
            <a:off x="7009805" y="2759273"/>
            <a:ext cx="1714500" cy="260021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Пользователь получает план и вакансии с HeadHunter.</a:t>
            </a:r>
            <a:endParaRPr lang="en-US" sz="683" dirty="0"/>
          </a:p>
        </p:txBody>
      </p:sp>
      <p:sp>
        <p:nvSpPr>
          <p:cNvPr id="23" name="Shape 13"/>
          <p:cNvSpPr/>
          <p:nvPr/>
        </p:nvSpPr>
        <p:spPr>
          <a:xfrm>
            <a:off x="21431" y="4607719"/>
            <a:ext cx="9101138" cy="5143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4"/>
          <p:cNvSpPr/>
          <p:nvPr/>
        </p:nvSpPr>
        <p:spPr>
          <a:xfrm>
            <a:off x="21431" y="4607719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5328" y="4800600"/>
            <a:ext cx="112514" cy="12858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2499280" y="4782741"/>
            <a:ext cx="113761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SQLite (Профили)</a:t>
            </a:r>
            <a:endParaRPr lang="en-US" sz="885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65494" y="4800600"/>
            <a:ext cx="160734" cy="12858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097666" y="4782741"/>
            <a:ext cx="13004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HH.ru API (Вакансии)</a:t>
            </a:r>
            <a:endParaRPr lang="en-US" sz="885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6736" y="4800600"/>
            <a:ext cx="160734" cy="12858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858907" y="4782741"/>
            <a:ext cx="96976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JSON Response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785813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21431" y="785813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0056" y="271463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ПРОЦЕСС: 7 ШАГОВ К УСПЕХУ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63113" y="2210293"/>
            <a:ext cx="60258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ВОЗРАСТ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678656" y="2403174"/>
            <a:ext cx="571500" cy="57150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8656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464344" y="3031824"/>
            <a:ext cx="1000125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Сбор базовых данных пользователя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948681" y="2210293"/>
            <a:ext cx="43649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УЧЕБА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1881178" y="2403174"/>
            <a:ext cx="571500" cy="571500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81178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1666866" y="3031824"/>
            <a:ext cx="1000125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Текущее или прошлое образование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2999510" y="2210293"/>
            <a:ext cx="73988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ИНТЕРЕСЫ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3083700" y="2403174"/>
            <a:ext cx="571500" cy="57150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083700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2869388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Сферы, которые вдохновляют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195530" y="2210293"/>
            <a:ext cx="75288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ПРЕДМЕТЫ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4286222" y="2403174"/>
            <a:ext cx="571500" cy="571500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86222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602" dirty="0"/>
          </a:p>
        </p:txBody>
      </p:sp>
      <p:sp>
        <p:nvSpPr>
          <p:cNvPr id="21" name="Text 18"/>
          <p:cNvSpPr/>
          <p:nvPr/>
        </p:nvSpPr>
        <p:spPr>
          <a:xfrm>
            <a:off x="4071910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Любимые школьные дисциплины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5486791" y="2210293"/>
            <a:ext cx="57537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НАВЫКИ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5488744" y="2403174"/>
            <a:ext cx="571500" cy="57150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8744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602" dirty="0"/>
          </a:p>
        </p:txBody>
      </p:sp>
      <p:sp>
        <p:nvSpPr>
          <p:cNvPr id="25" name="Text 22"/>
          <p:cNvSpPr/>
          <p:nvPr/>
        </p:nvSpPr>
        <p:spPr>
          <a:xfrm>
            <a:off x="5274432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Текущие компетенции и опыт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694029" y="2210293"/>
            <a:ext cx="565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ФОРМАТ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6691266" y="2403174"/>
            <a:ext cx="571500" cy="571500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91266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602" dirty="0"/>
          </a:p>
        </p:txBody>
      </p:sp>
      <p:sp>
        <p:nvSpPr>
          <p:cNvPr id="29" name="Text 26"/>
          <p:cNvSpPr/>
          <p:nvPr/>
        </p:nvSpPr>
        <p:spPr>
          <a:xfrm>
            <a:off x="6476953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Офис, удаленка или гибрид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7998349" y="2210293"/>
            <a:ext cx="362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ЦЕЛЬ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7893788" y="2403174"/>
            <a:ext cx="571500" cy="57150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893788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602" dirty="0"/>
          </a:p>
        </p:txBody>
      </p:sp>
      <p:sp>
        <p:nvSpPr>
          <p:cNvPr id="33" name="Text 30"/>
          <p:cNvSpPr/>
          <p:nvPr/>
        </p:nvSpPr>
        <p:spPr>
          <a:xfrm>
            <a:off x="7679475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Зачем нужна работа сейчас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21431" y="4622006"/>
            <a:ext cx="9101138" cy="50006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" y="4800600"/>
            <a:ext cx="142875" cy="142875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00088" y="4780955"/>
            <a:ext cx="48333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После 7 шагов AI формирует персональный JSON-отчет за секунды.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1000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307181"/>
            <a:ext cx="8243888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ИНТЕЛЛЕКТУАЛЬНЫЙ АНАЛИЗ ПРОФИЛЯ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307181" y="1164431"/>
            <a:ext cx="4179094" cy="1345871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" y="1335881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494" y="1707356"/>
            <a:ext cx="3750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ТОП-3 НАПРАВЛЕНИЯ</a:t>
            </a:r>
            <a:endParaRPr lang="en-US" sz="1295" dirty="0"/>
          </a:p>
        </p:txBody>
      </p:sp>
      <p:sp>
        <p:nvSpPr>
          <p:cNvPr id="8" name="Text 4"/>
          <p:cNvSpPr/>
          <p:nvPr/>
        </p:nvSpPr>
        <p:spPr>
          <a:xfrm>
            <a:off x="521494" y="2000250"/>
            <a:ext cx="37504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Подбор трех наиболее подходящих профессий на основе интересов, образования и навыков пользователя.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753" y="1346597"/>
            <a:ext cx="289322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82753" y="1718072"/>
            <a:ext cx="37290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СИЛЬНЫЕ СТОРОНЫ</a:t>
            </a:r>
            <a:endParaRPr lang="en-US" sz="1295" dirty="0"/>
          </a:p>
        </p:txBody>
      </p:sp>
      <p:sp>
        <p:nvSpPr>
          <p:cNvPr id="11" name="Text 6"/>
          <p:cNvSpPr/>
          <p:nvPr/>
        </p:nvSpPr>
        <p:spPr>
          <a:xfrm>
            <a:off x="4882753" y="2010966"/>
            <a:ext cx="37290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Выявление ключевых компетенций и талантов, которые помогут пользователю выделиться на рынке труда.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209" y="2778193"/>
            <a:ext cx="257175" cy="2571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2209" y="3149668"/>
            <a:ext cx="37290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 GAP ANALYSIS</a:t>
            </a:r>
            <a:endParaRPr lang="en-US" sz="1295" dirty="0"/>
          </a:p>
        </p:txBody>
      </p:sp>
      <p:sp>
        <p:nvSpPr>
          <p:cNvPr id="14" name="Text 8"/>
          <p:cNvSpPr/>
          <p:nvPr/>
        </p:nvSpPr>
        <p:spPr>
          <a:xfrm>
            <a:off x="532209" y="3442562"/>
            <a:ext cx="37290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Четкий список навыков, которые необходимо развить для достижения поставленных карьерных целей.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4657725" y="2596028"/>
            <a:ext cx="4179094" cy="1345871"/>
          </a:xfrm>
          <a:prstGeom prst="rect">
            <a:avLst/>
          </a:prstGeom>
          <a:solidFill>
            <a:srgbClr val="4CAF50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038" y="2767478"/>
            <a:ext cx="257175" cy="2571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72038" y="3138953"/>
            <a:ext cx="3750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ДОРОЖНАЯ КАРТА</a:t>
            </a:r>
            <a:endParaRPr lang="en-US" sz="1295" dirty="0"/>
          </a:p>
        </p:txBody>
      </p:sp>
      <p:sp>
        <p:nvSpPr>
          <p:cNvPr id="18" name="Text 11"/>
          <p:cNvSpPr/>
          <p:nvPr/>
        </p:nvSpPr>
        <p:spPr>
          <a:xfrm>
            <a:off x="4872038" y="3431846"/>
            <a:ext cx="37504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Конкретные первые шаги (обучение, стажировки, проекты), которые можно реализовать уже сегодня.</a:t>
            </a:r>
            <a:endParaRPr lang="en-US" sz="885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56" y="4216933"/>
            <a:ext cx="128588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0081" y="4199074"/>
            <a:ext cx="492759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Анализ выполняется моделью DeepSeek-V3 с учетом специфики рынка СНГ.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3190382" cy="51149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73658" y="271463"/>
            <a:ext cx="1471613" cy="900113"/>
          </a:xfrm>
          <a:prstGeom prst="rect">
            <a:avLst/>
          </a:prstGeom>
          <a:solidFill>
            <a:srgbClr val="FF5722"/>
          </a:solidFill>
          <a:ln w="18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3658" y="271463"/>
            <a:ext cx="147161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hh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4288" y="1185863"/>
            <a:ext cx="3190382" cy="435769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Интеграция с крупнейшим сервисом поиска работы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3490420" y="620195"/>
            <a:ext cx="5353515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РАБОТА С РЫНКОМ ТРУДА</a:t>
            </a:r>
            <a:endParaRPr lang="en-US" sz="2755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420" y="1237404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9045" y="1187397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РЕАЛЬНЫЕ ВАКАНСИИ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3919045" y="1485649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Бот не просто дает советы, он ищет работу прямо сейчас через официальный API HeadHunter.</a:t>
            </a:r>
            <a:endParaRPr lang="en-US" sz="987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420" y="1992855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19045" y="1942849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УМНЫЕ ФИЛЬТРЫ</a:t>
            </a: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3919045" y="2241100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Автоматический подбор по ключевым словам, интересам и навыкам, выявленным AI.</a:t>
            </a:r>
            <a:endParaRPr lang="en-US" sz="98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0420" y="2748307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19045" y="2698300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АКТУАЛЬНОСТЬ 100%</a:t>
            </a:r>
            <a:endParaRPr lang="en-US" sz="1397" dirty="0"/>
          </a:p>
        </p:txBody>
      </p:sp>
      <p:sp>
        <p:nvSpPr>
          <p:cNvPr id="16" name="Text 10"/>
          <p:cNvSpPr/>
          <p:nvPr/>
        </p:nvSpPr>
        <p:spPr>
          <a:xfrm>
            <a:off x="3919045" y="2996552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Выдача только свежих предложений с сортировкой по времени публикации.</a:t>
            </a:r>
            <a:endParaRPr lang="en-US" sz="987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420" y="3503758"/>
            <a:ext cx="200025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19045" y="3453752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ПРЯМОЙ ОТКЛИК</a:t>
            </a:r>
            <a:endParaRPr lang="en-US" sz="1397" dirty="0"/>
          </a:p>
        </p:txBody>
      </p:sp>
      <p:sp>
        <p:nvSpPr>
          <p:cNvPr id="19" name="Text 12"/>
          <p:cNvSpPr/>
          <p:nvPr/>
        </p:nvSpPr>
        <p:spPr>
          <a:xfrm>
            <a:off x="3919045" y="3752004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Каждая вакансия сопровождается прямой ссылкой для быстрого перехода и отклика.</a:t>
            </a:r>
            <a:endParaRPr lang="en-US" sz="98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78045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307181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ТЕХНОЛОГИЧЕСКИЙ СТЕК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278606" y="887611"/>
            <a:ext cx="4250531" cy="1470887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" y="1069777"/>
            <a:ext cx="312539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206" y="1557338"/>
            <a:ext cx="379333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3.11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507206" y="1891308"/>
            <a:ext cx="37933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Основной язык разработки. Обеспечивает скорость и стабильность модулей.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178" y="1080492"/>
            <a:ext cx="446484" cy="3571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4178" y="1568053"/>
            <a:ext cx="37719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AIOGRAM 3.X</a:t>
            </a:r>
            <a:endParaRPr lang="en-US" sz="1602" dirty="0"/>
          </a:p>
        </p:txBody>
      </p:sp>
      <p:sp>
        <p:nvSpPr>
          <p:cNvPr id="11" name="Text 6"/>
          <p:cNvSpPr/>
          <p:nvPr/>
        </p:nvSpPr>
        <p:spPr>
          <a:xfrm>
            <a:off x="4854178" y="1902023"/>
            <a:ext cx="37719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Асинхронный фреймворк для Telegram-ботов для обработки множества запросов.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22" y="2622817"/>
            <a:ext cx="357188" cy="3571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7922" y="3110378"/>
            <a:ext cx="37719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DEEPSEEK-V3</a:t>
            </a:r>
            <a:endParaRPr lang="en-US" sz="1602" dirty="0"/>
          </a:p>
        </p:txBody>
      </p:sp>
      <p:sp>
        <p:nvSpPr>
          <p:cNvPr id="14" name="Text 8"/>
          <p:cNvSpPr/>
          <p:nvPr/>
        </p:nvSpPr>
        <p:spPr>
          <a:xfrm>
            <a:off x="517922" y="3444348"/>
            <a:ext cx="37719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Языковая модель через OpenRouter для анализа профиля и рекомендаций.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4614863" y="2429935"/>
            <a:ext cx="4250531" cy="1470887"/>
          </a:xfrm>
          <a:prstGeom prst="rect">
            <a:avLst/>
          </a:prstGeom>
          <a:solidFill>
            <a:srgbClr val="4CAF50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3463" y="2612101"/>
            <a:ext cx="312539" cy="3571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43463" y="3099662"/>
            <a:ext cx="379333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SQLITE / AIOSQLITE</a:t>
            </a:r>
            <a:endParaRPr lang="en-US" sz="1602" dirty="0"/>
          </a:p>
        </p:txBody>
      </p:sp>
      <p:sp>
        <p:nvSpPr>
          <p:cNvPr id="18" name="Text 11"/>
          <p:cNvSpPr/>
          <p:nvPr/>
        </p:nvSpPr>
        <p:spPr>
          <a:xfrm>
            <a:off x="4843463" y="3433632"/>
            <a:ext cx="37933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Локальное хранилище профилей и истории карьерных треков.</a:t>
            </a:r>
            <a:endParaRPr lang="en-US" sz="885" dirty="0"/>
          </a:p>
        </p:txBody>
      </p:sp>
      <p:sp>
        <p:nvSpPr>
          <p:cNvPr id="19" name="Shape 12"/>
          <p:cNvSpPr/>
          <p:nvPr/>
        </p:nvSpPr>
        <p:spPr>
          <a:xfrm>
            <a:off x="21431" y="3986547"/>
            <a:ext cx="9101138" cy="3143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56" y="4079416"/>
            <a:ext cx="112514" cy="128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48295" y="4061557"/>
            <a:ext cx="50729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Полностью асинхронная архитектура для максимальной производительности.</a:t>
            </a:r>
            <a:endParaRPr lang="en-US" sz="8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" y="78581"/>
            <a:ext cx="9101138" cy="94297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8581" y="1000125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7206" y="364331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ПРЕИМУЩЕСТВА ДЛЯ МОЛОДЕЖИ (16-22)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313250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446" y="1314450"/>
            <a:ext cx="262533" cy="2714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217" y="1835944"/>
            <a:ext cx="18949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ЗНАКОМАЯ СРЕДА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278606" y="2127386"/>
            <a:ext cx="26122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 нужно скачивать новые приложения или регистрироваться — весь путь в привычном мессенджере.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3112275" y="1021556"/>
            <a:ext cx="3033722" cy="3643313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124566" y="1021556"/>
            <a:ext cx="21431" cy="36433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57660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458" y="1314450"/>
            <a:ext cx="339328" cy="2714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5123" y="1835944"/>
            <a:ext cx="184799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ЯЗЫК МОЛОДЕЖИ</a:t>
            </a:r>
            <a:endParaRPr lang="en-US" sz="1397" dirty="0"/>
          </a:p>
        </p:txBody>
      </p:sp>
      <p:sp>
        <p:nvSpPr>
          <p:cNvPr id="15" name="Text 10"/>
          <p:cNvSpPr/>
          <p:nvPr/>
        </p:nvSpPr>
        <p:spPr>
          <a:xfrm>
            <a:off x="3312300" y="2127386"/>
            <a:ext cx="2633672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Бот общается просто и без лишней бюрократии — интуитивный интерфейс с кнопками.</a:t>
            </a:r>
            <a:endParaRPr lang="en-US" sz="885" dirty="0"/>
          </a:p>
        </p:txBody>
      </p:sp>
      <p:sp>
        <p:nvSpPr>
          <p:cNvPr id="16" name="Shape 11"/>
          <p:cNvSpPr/>
          <p:nvPr/>
        </p:nvSpPr>
        <p:spPr>
          <a:xfrm>
            <a:off x="7391381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113" y="1314450"/>
            <a:ext cx="271463" cy="2714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65903" y="1835944"/>
            <a:ext cx="2393854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БЕСПЛАТНО И БЫСТРО</a:t>
            </a:r>
            <a:endParaRPr lang="en-US" sz="1397" dirty="0"/>
          </a:p>
        </p:txBody>
      </p:sp>
      <p:sp>
        <p:nvSpPr>
          <p:cNvPr id="19" name="Text 13"/>
          <p:cNvSpPr/>
          <p:nvPr/>
        </p:nvSpPr>
        <p:spPr>
          <a:xfrm>
            <a:off x="6346022" y="2127386"/>
            <a:ext cx="26336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Экспертная аналитика уровня консультанта за 0 ₽ и менее 2 минут.</a:t>
            </a:r>
            <a:endParaRPr lang="en-US" sz="885" dirty="0"/>
          </a:p>
        </p:txBody>
      </p:sp>
      <p:sp>
        <p:nvSpPr>
          <p:cNvPr id="20" name="Shape 14"/>
          <p:cNvSpPr/>
          <p:nvPr/>
        </p:nvSpPr>
        <p:spPr>
          <a:xfrm>
            <a:off x="78581" y="4664869"/>
            <a:ext cx="9101138" cy="5143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" y="4843463"/>
            <a:ext cx="15716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1525" y="4821138"/>
            <a:ext cx="47513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говорим на одном языке с будущими профессионалами.</a:t>
            </a:r>
            <a:endParaRPr lang="en-US" sz="10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8572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271463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БУДУЩЕЕ ПРОЕКТА: КУДА МЫ РАСТЕМ?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50056" y="1121569"/>
            <a:ext cx="4039791" cy="1660922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1323380"/>
            <a:ext cx="250031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5806" y="1764506"/>
            <a:ext cx="3468291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МЕНТОРСТВО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735806" y="2091333"/>
            <a:ext cx="346829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Добавление базы наставников для персональных консультаций и передачи опыта новичкам.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334" y="1344811"/>
            <a:ext cx="357188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334" y="1785938"/>
            <a:ext cx="342542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КУРСЫ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4961334" y="2112764"/>
            <a:ext cx="34254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Автоматический подбор образовательных программ под выявленные AI дефицитные навыки.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8" y="3170039"/>
            <a:ext cx="214313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7238" y="3611166"/>
            <a:ext cx="342542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CV-БИЛДЕР</a:t>
            </a:r>
            <a:endParaRPr lang="en-US" sz="1397" dirty="0"/>
          </a:p>
        </p:txBody>
      </p:sp>
      <p:sp>
        <p:nvSpPr>
          <p:cNvPr id="14" name="Text 8"/>
          <p:cNvSpPr/>
          <p:nvPr/>
        </p:nvSpPr>
        <p:spPr>
          <a:xfrm>
            <a:off x="757238" y="3937992"/>
            <a:ext cx="34254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Генерация идеального резюме на основе данных профиля и персональных советов AI.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4654153" y="2946797"/>
            <a:ext cx="4039791" cy="1660922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9903" y="3148608"/>
            <a:ext cx="357188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39903" y="3589734"/>
            <a:ext cx="3468291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СООБЩЕСТВО</a:t>
            </a:r>
            <a:endParaRPr lang="en-US" sz="1397" dirty="0"/>
          </a:p>
        </p:txBody>
      </p:sp>
      <p:sp>
        <p:nvSpPr>
          <p:cNvPr id="18" name="Text 11"/>
          <p:cNvSpPr/>
          <p:nvPr/>
        </p:nvSpPr>
        <p:spPr>
          <a:xfrm>
            <a:off x="4939903" y="3916561"/>
            <a:ext cx="346829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Создание нетворкинг-чатов для людей со схожими карьерными треками и интересами.</a:t>
            </a:r>
            <a:endParaRPr lang="en-US" sz="885" dirty="0"/>
          </a:p>
        </p:txBody>
      </p:sp>
      <p:sp>
        <p:nvSpPr>
          <p:cNvPr id="19" name="Shape 12"/>
          <p:cNvSpPr/>
          <p:nvPr/>
        </p:nvSpPr>
        <p:spPr>
          <a:xfrm>
            <a:off x="21431" y="4607719"/>
            <a:ext cx="9101138" cy="5143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21431" y="4607719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56" y="4786313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4375" y="4763988"/>
            <a:ext cx="5419734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строим полноценную экосистему для профессионального роста.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4095490" cy="5100638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095490" y="2143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207" y="1655564"/>
            <a:ext cx="1785938" cy="1428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29311" y="3155752"/>
            <a:ext cx="1679730" cy="3321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229311" y="3155752"/>
            <a:ext cx="1679730" cy="33218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проекта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4545546" y="770213"/>
            <a:ext cx="4148370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И ВКЛАД</a:t>
            </a:r>
            <a:endParaRPr lang="en-US" sz="275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546" y="1376707"/>
            <a:ext cx="2857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45608" y="1337416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РАЗРАБОТКА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5045608" y="1649955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Реализован полный цикл: от обработки состояний (FSM) до интеграции внешних API (Telegram, OpenRouter, HeadHunter).</a:t>
            </a:r>
            <a:endParaRPr lang="en-US" sz="98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546" y="2417908"/>
            <a:ext cx="2857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45608" y="2378618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ПРОДУКТ</a:t>
            </a:r>
            <a:endParaRPr lang="en-US" sz="1397" dirty="0"/>
          </a:p>
        </p:txBody>
      </p:sp>
      <p:sp>
        <p:nvSpPr>
          <p:cNvPr id="14" name="Text 8"/>
          <p:cNvSpPr/>
          <p:nvPr/>
        </p:nvSpPr>
        <p:spPr>
          <a:xfrm>
            <a:off x="5045608" y="2691157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Создана работающая MVP-модель, готовая к немедленному тестированию и масштабированию на реальных пользователях.</a:t>
            </a:r>
            <a:endParaRPr lang="en-US" sz="987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5546" y="3459110"/>
            <a:ext cx="257175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45608" y="3419819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ВИЗИЯ</a:t>
            </a:r>
            <a:endParaRPr lang="en-US" sz="1397" dirty="0"/>
          </a:p>
        </p:txBody>
      </p:sp>
      <p:sp>
        <p:nvSpPr>
          <p:cNvPr id="17" name="Text 10"/>
          <p:cNvSpPr/>
          <p:nvPr/>
        </p:nvSpPr>
        <p:spPr>
          <a:xfrm>
            <a:off x="5045608" y="3732358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строим технологический мост между академическим образованием и требованиями реального рынка труда.</a:t>
            </a:r>
            <a:endParaRPr lang="en-US" sz="98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4550569" cy="510063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550569" y="2143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0056" y="1042122"/>
            <a:ext cx="3693319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НАЧНИ СВОЙ ПУТЬ СЕГОДНЯ!</a:t>
            </a:r>
            <a:endParaRPr lang="en-US" sz="3294" dirty="0"/>
          </a:p>
        </p:txBody>
      </p:sp>
      <p:sp>
        <p:nvSpPr>
          <p:cNvPr id="6" name="Shape 3"/>
          <p:cNvSpPr/>
          <p:nvPr/>
        </p:nvSpPr>
        <p:spPr>
          <a:xfrm>
            <a:off x="450056" y="2836599"/>
            <a:ext cx="3693319" cy="54113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0056" y="2836599"/>
            <a:ext cx="3693319" cy="541139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Попробуй бота прямо сейчас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50056" y="3806363"/>
            <a:ext cx="3693319" cy="817959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— твой компас в мире профессий!</a:t>
            </a:r>
            <a:endParaRPr lang="en-US" sz="1602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836" y="1157479"/>
            <a:ext cx="221456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02461" y="1169088"/>
            <a:ext cx="2428550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github.com/Healthy06/</a:t>
            </a:r>
            <a:r>
              <a:rPr lang="en-US" sz="1193" b="1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MyCareerStart</a:t>
            </a:r>
            <a:endParaRPr lang="en-US" sz="1193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836" y="1662900"/>
            <a:ext cx="221456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02461" y="1674508"/>
            <a:ext cx="1107676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@hakaton26_bot</a:t>
            </a:r>
            <a:endParaRPr lang="en-US" sz="1193" dirty="0"/>
          </a:p>
        </p:txBody>
      </p:sp>
      <p:pic>
        <p:nvPicPr>
          <p:cNvPr id="17" name="Изображение 16">
            <a:extLst>
              <a:ext uri="{FF2B5EF4-FFF2-40B4-BE49-F238E27FC236}">
                <a16:creationId xmlns:a16="http://schemas.microsoft.com/office/drawing/2014/main" id="{04B7A9D8-BA14-4480-D09A-F641438BE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827" y="2202636"/>
            <a:ext cx="1748790" cy="1989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731</Words>
  <Application>Microsoft Office PowerPoint</Application>
  <PresentationFormat>On-screen Show (16:9)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Kai Flynn</cp:lastModifiedBy>
  <cp:revision>3</cp:revision>
  <dcterms:created xsi:type="dcterms:W3CDTF">2026-04-04T17:33:46Z</dcterms:created>
  <dcterms:modified xsi:type="dcterms:W3CDTF">2026-04-04T17:57:55Z</dcterms:modified>
</cp:coreProperties>
</file>